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2509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418"/>
        </a:solidFill>
        <a:effectLst/>
      </p:bgPr>
    </p:bg>
    <p:spTree>
      <p:nvGrpSpPr>
        <p:cNvPr id="1" name=""/>
        <p:cNvGrpSpPr/>
        <p:nvPr/>
      </p:nvGrpSpPr>
      <p:grpSpPr>
        <a:xfrm>
          <a:off x="0" y="0"/>
          <a:ext cx="0" cy="0"/>
          <a:chOff x="0" y="0"/>
          <a:chExt cx="0" cy="0"/>
        </a:xfrm>
      </p:grpSpPr>
      <p:sp>
        <p:nvSpPr>
          <p:cNvPr id="2" name="Shape 0"/>
          <p:cNvSpPr/>
          <p:nvPr/>
        </p:nvSpPr>
        <p:spPr>
          <a:xfrm>
            <a:off x="8412480" y="-2377440"/>
            <a:ext cx="6583680" cy="6583680"/>
          </a:xfrm>
          <a:prstGeom prst="ellipse">
            <a:avLst/>
          </a:prstGeom>
          <a:solidFill>
            <a:srgbClr val="1E170F"/>
          </a:solidFill>
          <a:ln/>
        </p:spPr>
      </p:sp>
      <p:sp>
        <p:nvSpPr>
          <p:cNvPr id="3" name="Shape 1"/>
          <p:cNvSpPr/>
          <p:nvPr/>
        </p:nvSpPr>
        <p:spPr>
          <a:xfrm>
            <a:off x="9692640" y="3291840"/>
            <a:ext cx="4023360" cy="4023360"/>
          </a:xfrm>
          <a:prstGeom prst="ellipse">
            <a:avLst/>
          </a:prstGeom>
          <a:solidFill>
            <a:srgbClr val="463A2E"/>
          </a:solidFill>
          <a:ln/>
        </p:spPr>
      </p:sp>
      <p:pic>
        <p:nvPicPr>
          <p:cNvPr id="4" name="Image 0" descr="/home/claude/assets/existing_media/image-1-1.png"/>
          <p:cNvPicPr>
            <a:picLocks noChangeAspect="1"/>
          </p:cNvPicPr>
          <p:nvPr/>
        </p:nvPicPr>
        <p:blipFill>
          <a:blip r:embed="rId3"/>
          <a:stretch>
            <a:fillRect/>
          </a:stretch>
        </p:blipFill>
        <p:spPr>
          <a:xfrm>
            <a:off x="621792" y="502920"/>
            <a:ext cx="1655064" cy="566928"/>
          </a:xfrm>
          <a:prstGeom prst="rect">
            <a:avLst/>
          </a:prstGeom>
        </p:spPr>
      </p:pic>
      <p:sp>
        <p:nvSpPr>
          <p:cNvPr id="5" name="Shape 2"/>
          <p:cNvSpPr/>
          <p:nvPr/>
        </p:nvSpPr>
        <p:spPr>
          <a:xfrm>
            <a:off x="10561320" y="1371600"/>
            <a:ext cx="182880" cy="502920"/>
          </a:xfrm>
          <a:prstGeom prst="rect">
            <a:avLst/>
          </a:prstGeom>
          <a:solidFill>
            <a:srgbClr val="C5A15F"/>
          </a:solidFill>
          <a:ln/>
        </p:spPr>
      </p:sp>
      <p:sp>
        <p:nvSpPr>
          <p:cNvPr id="6" name="Shape 3"/>
          <p:cNvSpPr/>
          <p:nvPr/>
        </p:nvSpPr>
        <p:spPr>
          <a:xfrm>
            <a:off x="10817352" y="1097280"/>
            <a:ext cx="182880" cy="777240"/>
          </a:xfrm>
          <a:prstGeom prst="rect">
            <a:avLst/>
          </a:prstGeom>
          <a:solidFill>
            <a:srgbClr val="C5A15F"/>
          </a:solidFill>
          <a:ln/>
        </p:spPr>
      </p:sp>
      <p:sp>
        <p:nvSpPr>
          <p:cNvPr id="7" name="Shape 4"/>
          <p:cNvSpPr/>
          <p:nvPr/>
        </p:nvSpPr>
        <p:spPr>
          <a:xfrm>
            <a:off x="11073384" y="1554480"/>
            <a:ext cx="182880" cy="320040"/>
          </a:xfrm>
          <a:prstGeom prst="rect">
            <a:avLst/>
          </a:prstGeom>
          <a:solidFill>
            <a:srgbClr val="C5A15F"/>
          </a:solidFill>
          <a:ln/>
        </p:spPr>
      </p:sp>
      <p:sp>
        <p:nvSpPr>
          <p:cNvPr id="8" name="Shape 5"/>
          <p:cNvSpPr/>
          <p:nvPr/>
        </p:nvSpPr>
        <p:spPr>
          <a:xfrm>
            <a:off x="11329416" y="914400"/>
            <a:ext cx="182880" cy="960120"/>
          </a:xfrm>
          <a:prstGeom prst="rect">
            <a:avLst/>
          </a:prstGeom>
          <a:solidFill>
            <a:srgbClr val="C5A15F"/>
          </a:solidFill>
          <a:ln/>
        </p:spPr>
      </p:sp>
      <p:sp>
        <p:nvSpPr>
          <p:cNvPr id="9" name="Shape 6"/>
          <p:cNvSpPr/>
          <p:nvPr/>
        </p:nvSpPr>
        <p:spPr>
          <a:xfrm>
            <a:off x="11585448" y="1234440"/>
            <a:ext cx="182880" cy="640080"/>
          </a:xfrm>
          <a:prstGeom prst="rect">
            <a:avLst/>
          </a:prstGeom>
          <a:solidFill>
            <a:srgbClr val="C5A15F"/>
          </a:solidFill>
          <a:ln/>
        </p:spPr>
      </p:sp>
      <p:sp>
        <p:nvSpPr>
          <p:cNvPr id="10" name="Text 7"/>
          <p:cNvSpPr/>
          <p:nvPr/>
        </p:nvSpPr>
        <p:spPr>
          <a:xfrm>
            <a:off x="457200" y="2114600"/>
            <a:ext cx="8229600" cy="256032"/>
          </a:xfrm>
          <a:prstGeom prst="rect">
            <a:avLst/>
          </a:prstGeom>
          <a:noFill/>
          <a:ln/>
        </p:spPr>
        <p:txBody>
          <a:bodyPr wrap="square" lIns="0" tIns="0" rIns="0" bIns="0" rtlCol="0" anchor="ctr"/>
          <a:lstStyle/>
          <a:p>
            <a:pPr marL="0" indent="0">
              <a:buNone/>
            </a:pPr>
            <a:r>
              <a:rPr lang="en-US" sz="1200" b="1" kern="0" spc="200" dirty="0">
                <a:solidFill>
                  <a:srgbClr val="C5A15F"/>
                </a:solidFill>
                <a:latin typeface="Calibri" pitchFamily="34" charset="0"/>
                <a:ea typeface="Calibri" pitchFamily="34" charset="-122"/>
                <a:cs typeface="Calibri" pitchFamily="34" charset="-120"/>
              </a:rPr>
              <a:t>DATA ANALYTICS INTERNSHIP 2026</a:t>
            </a:r>
            <a:endParaRPr lang="en-US" sz="1200" dirty="0"/>
          </a:p>
        </p:txBody>
      </p:sp>
      <p:sp>
        <p:nvSpPr>
          <p:cNvPr id="11" name="Text 8"/>
          <p:cNvSpPr/>
          <p:nvPr/>
        </p:nvSpPr>
        <p:spPr>
          <a:xfrm>
            <a:off x="457200" y="2416352"/>
            <a:ext cx="9601200" cy="7772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Superstore Sales Analytics</a:t>
            </a:r>
            <a:endParaRPr lang="en-US" sz="4200" dirty="0"/>
          </a:p>
        </p:txBody>
      </p:sp>
      <p:sp>
        <p:nvSpPr>
          <p:cNvPr id="12" name="Text 9"/>
          <p:cNvSpPr/>
          <p:nvPr/>
        </p:nvSpPr>
        <p:spPr>
          <a:xfrm>
            <a:off x="457200" y="3166160"/>
            <a:ext cx="9601200" cy="365760"/>
          </a:xfrm>
          <a:prstGeom prst="rect">
            <a:avLst/>
          </a:prstGeom>
          <a:noFill/>
          <a:ln/>
        </p:spPr>
        <p:txBody>
          <a:bodyPr wrap="square" lIns="0" tIns="0" rIns="0" bIns="0" rtlCol="0" anchor="ctr"/>
          <a:lstStyle/>
          <a:p>
            <a:pPr marL="0" indent="0">
              <a:buNone/>
            </a:pPr>
            <a:r>
              <a:rPr lang="en-US" sz="1700" i="1" dirty="0">
                <a:solidFill>
                  <a:srgbClr val="BBA07B"/>
                </a:solidFill>
                <a:latin typeface="Calibri" pitchFamily="34" charset="0"/>
                <a:ea typeface="Calibri" pitchFamily="34" charset="-122"/>
                <a:cs typeface="Calibri" pitchFamily="34" charset="-120"/>
              </a:rPr>
              <a:t>Task 5: Final Reporting, Deployment and Presentation</a:t>
            </a:r>
            <a:endParaRPr lang="en-US" sz="1700" dirty="0"/>
          </a:p>
        </p:txBody>
      </p:sp>
      <p:sp>
        <p:nvSpPr>
          <p:cNvPr id="13" name="Text 10"/>
          <p:cNvSpPr/>
          <p:nvPr/>
        </p:nvSpPr>
        <p:spPr>
          <a:xfrm>
            <a:off x="457200" y="3641648"/>
            <a:ext cx="9692640" cy="548640"/>
          </a:xfrm>
          <a:prstGeom prst="rect">
            <a:avLst/>
          </a:prstGeom>
          <a:noFill/>
          <a:ln/>
        </p:spPr>
        <p:txBody>
          <a:bodyPr wrap="square" lIns="0" tIns="0" rIns="0" bIns="0" rtlCol="0" anchor="ctr"/>
          <a:lstStyle/>
          <a:p>
            <a:pPr marL="0" indent="0">
              <a:lnSpc>
                <a:spcPct val="115000"/>
              </a:lnSpc>
              <a:buNone/>
            </a:pPr>
            <a:r>
              <a:rPr lang="en-US" sz="1250" dirty="0">
                <a:solidFill>
                  <a:srgbClr val="F1E8DB"/>
                </a:solidFill>
                <a:latin typeface="Calibri" pitchFamily="34" charset="0"/>
                <a:ea typeface="Calibri" pitchFamily="34" charset="-122"/>
                <a:cs typeface="Calibri" pitchFamily="34" charset="-120"/>
              </a:rPr>
              <a:t>An end to end retail analytics project on the Sample Superstore dataset: data cleaning and SQL extraction, Python and Power BI visualisation, statistical modelling, and evidence based business recommendations.</a:t>
            </a:r>
            <a:endParaRPr lang="en-US" sz="1250" dirty="0"/>
          </a:p>
        </p:txBody>
      </p:sp>
      <p:sp>
        <p:nvSpPr>
          <p:cNvPr id="14" name="Text 11"/>
          <p:cNvSpPr/>
          <p:nvPr/>
        </p:nvSpPr>
        <p:spPr>
          <a:xfrm>
            <a:off x="457200" y="4281728"/>
            <a:ext cx="9692640" cy="274320"/>
          </a:xfrm>
          <a:prstGeom prst="rect">
            <a:avLst/>
          </a:prstGeom>
          <a:noFill/>
          <a:ln/>
        </p:spPr>
        <p:txBody>
          <a:bodyPr wrap="square" lIns="0" tIns="0" rIns="0" bIns="0" rtlCol="0" anchor="ctr"/>
          <a:lstStyle/>
          <a:p>
            <a:pPr marL="0" indent="0">
              <a:buNone/>
            </a:pPr>
            <a:r>
              <a:rPr lang="en-US" sz="1150" b="1" dirty="0">
                <a:solidFill>
                  <a:srgbClr val="C5A15F"/>
                </a:solidFill>
                <a:latin typeface="Calibri" pitchFamily="34" charset="0"/>
                <a:ea typeface="Calibri" pitchFamily="34" charset="-122"/>
                <a:cs typeface="Calibri" pitchFamily="34" charset="-120"/>
              </a:rPr>
              <a:t>10,194 ORDERS ANALYSED   ·   $2.33M IN REVENUE EXAMINED   ·   5 TASKS COMPLETED</a:t>
            </a:r>
            <a:endParaRPr lang="en-US" sz="1150" dirty="0"/>
          </a:p>
        </p:txBody>
      </p:sp>
      <p:sp>
        <p:nvSpPr>
          <p:cNvPr id="15" name="Text 12"/>
          <p:cNvSpPr/>
          <p:nvPr/>
        </p:nvSpPr>
        <p:spPr>
          <a:xfrm>
            <a:off x="457200" y="4583480"/>
            <a:ext cx="9692640" cy="256032"/>
          </a:xfrm>
          <a:prstGeom prst="rect">
            <a:avLst/>
          </a:prstGeom>
          <a:noFill/>
          <a:ln/>
        </p:spPr>
        <p:txBody>
          <a:bodyPr wrap="square" lIns="0" tIns="0" rIns="0" bIns="0" rtlCol="0" anchor="ctr"/>
          <a:lstStyle/>
          <a:p>
            <a:pPr marL="0" indent="0">
              <a:buNone/>
            </a:pPr>
            <a:r>
              <a:rPr lang="en-US" sz="1050" dirty="0">
                <a:solidFill>
                  <a:srgbClr val="BBA07B"/>
                </a:solidFill>
                <a:latin typeface="Calibri" pitchFamily="34" charset="0"/>
                <a:ea typeface="Calibri" pitchFamily="34" charset="-122"/>
                <a:cs typeface="Calibri" pitchFamily="34" charset="-120"/>
              </a:rPr>
              <a:t>PYTHON   ·   SQL   ·   POWER BI   ·   SARIMA FORECASTING   ·   RFM SEGMENTATION</a:t>
            </a:r>
            <a:endParaRPr lang="en-US" sz="1050" dirty="0"/>
          </a:p>
        </p:txBody>
      </p:sp>
      <p:sp>
        <p:nvSpPr>
          <p:cNvPr id="16" name="Text 13"/>
          <p:cNvSpPr/>
          <p:nvPr/>
        </p:nvSpPr>
        <p:spPr>
          <a:xfrm>
            <a:off x="457200" y="5056440"/>
            <a:ext cx="2834640" cy="219456"/>
          </a:xfrm>
          <a:prstGeom prst="rect">
            <a:avLst/>
          </a:prstGeom>
          <a:noFill/>
          <a:ln/>
        </p:spPr>
        <p:txBody>
          <a:bodyPr wrap="square" lIns="0" tIns="0" rIns="0" bIns="0" rtlCol="0" anchor="ctr"/>
          <a:lstStyle/>
          <a:p>
            <a:pPr marL="0" indent="0">
              <a:buNone/>
            </a:pPr>
            <a:r>
              <a:rPr lang="en-US" sz="1000" b="1" kern="0" spc="100" dirty="0">
                <a:solidFill>
                  <a:srgbClr val="C5A15F"/>
                </a:solidFill>
                <a:latin typeface="Calibri" pitchFamily="34" charset="0"/>
                <a:ea typeface="Calibri" pitchFamily="34" charset="-122"/>
                <a:cs typeface="Calibri" pitchFamily="34" charset="-120"/>
              </a:rPr>
              <a:t>PREPARED BY</a:t>
            </a:r>
            <a:endParaRPr lang="en-US" sz="1000" dirty="0"/>
          </a:p>
        </p:txBody>
      </p:sp>
      <p:sp>
        <p:nvSpPr>
          <p:cNvPr id="17" name="Text 14"/>
          <p:cNvSpPr/>
          <p:nvPr/>
        </p:nvSpPr>
        <p:spPr>
          <a:xfrm>
            <a:off x="457200" y="5303328"/>
            <a:ext cx="2743200" cy="2743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Khushi Vig</a:t>
            </a:r>
            <a:endParaRPr lang="en-US" sz="1300" dirty="0"/>
          </a:p>
        </p:txBody>
      </p:sp>
      <p:sp>
        <p:nvSpPr>
          <p:cNvPr id="18" name="Text 15"/>
          <p:cNvSpPr/>
          <p:nvPr/>
        </p:nvSpPr>
        <p:spPr>
          <a:xfrm>
            <a:off x="2788920" y="5056440"/>
            <a:ext cx="2834640" cy="219456"/>
          </a:xfrm>
          <a:prstGeom prst="rect">
            <a:avLst/>
          </a:prstGeom>
          <a:noFill/>
          <a:ln/>
        </p:spPr>
        <p:txBody>
          <a:bodyPr wrap="square" lIns="0" tIns="0" rIns="0" bIns="0" rtlCol="0" anchor="ctr"/>
          <a:lstStyle/>
          <a:p>
            <a:pPr marL="0" indent="0">
              <a:buNone/>
            </a:pPr>
            <a:r>
              <a:rPr lang="en-US" sz="1000" b="1" kern="0" spc="100" dirty="0">
                <a:solidFill>
                  <a:srgbClr val="C5A15F"/>
                </a:solidFill>
                <a:latin typeface="Calibri" pitchFamily="34" charset="0"/>
                <a:ea typeface="Calibri" pitchFamily="34" charset="-122"/>
                <a:cs typeface="Calibri" pitchFamily="34" charset="-120"/>
              </a:rPr>
              <a:t>PROGRAMME</a:t>
            </a:r>
            <a:endParaRPr lang="en-US" sz="1000" dirty="0"/>
          </a:p>
        </p:txBody>
      </p:sp>
      <p:sp>
        <p:nvSpPr>
          <p:cNvPr id="19" name="Text 16"/>
          <p:cNvSpPr/>
          <p:nvPr/>
        </p:nvSpPr>
        <p:spPr>
          <a:xfrm>
            <a:off x="2788920" y="5303328"/>
            <a:ext cx="2743200" cy="2743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ApexPlanet Software Pvt. Ltd.</a:t>
            </a:r>
            <a:endParaRPr lang="en-US" sz="1300" dirty="0"/>
          </a:p>
        </p:txBody>
      </p:sp>
      <p:sp>
        <p:nvSpPr>
          <p:cNvPr id="20" name="Text 17"/>
          <p:cNvSpPr/>
          <p:nvPr/>
        </p:nvSpPr>
        <p:spPr>
          <a:xfrm>
            <a:off x="5806440" y="5056440"/>
            <a:ext cx="2834640" cy="219456"/>
          </a:xfrm>
          <a:prstGeom prst="rect">
            <a:avLst/>
          </a:prstGeom>
          <a:noFill/>
          <a:ln/>
        </p:spPr>
        <p:txBody>
          <a:bodyPr wrap="square" lIns="0" tIns="0" rIns="0" bIns="0" rtlCol="0" anchor="ctr"/>
          <a:lstStyle/>
          <a:p>
            <a:pPr marL="0" indent="0">
              <a:buNone/>
            </a:pPr>
            <a:r>
              <a:rPr lang="en-US" sz="1000" b="1" kern="0" spc="100" dirty="0">
                <a:solidFill>
                  <a:srgbClr val="C5A15F"/>
                </a:solidFill>
                <a:latin typeface="Calibri" pitchFamily="34" charset="0"/>
                <a:ea typeface="Calibri" pitchFamily="34" charset="-122"/>
                <a:cs typeface="Calibri" pitchFamily="34" charset="-120"/>
              </a:rPr>
              <a:t>REPOSITORY</a:t>
            </a:r>
            <a:endParaRPr lang="en-US" sz="1000" dirty="0"/>
          </a:p>
        </p:txBody>
      </p:sp>
      <p:sp>
        <p:nvSpPr>
          <p:cNvPr id="21" name="Text 18"/>
          <p:cNvSpPr/>
          <p:nvPr/>
        </p:nvSpPr>
        <p:spPr>
          <a:xfrm>
            <a:off x="5806440" y="5303328"/>
            <a:ext cx="5394960" cy="2743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github.com/KhushiVig/apexplanet-data-analytics</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16">
    <p:bg>
      <p:bgPr>
        <a:solidFill>
          <a:srgbClr val="FAF6F0"/>
        </a:solidFill>
        <a:effectLst/>
      </p:bgPr>
    </p:bg>
    <p:spTree>
      <p:nvGrpSpPr>
        <p:cNvPr id="1" name=""/>
        <p:cNvGrpSpPr/>
        <p:nvPr/>
      </p:nvGrpSpPr>
      <p:grpSpPr>
        <a:xfrm>
          <a:off x="0" y="0"/>
          <a:ext cx="0" cy="0"/>
          <a:chOff x="0" y="0"/>
          <a:chExt cx="0" cy="0"/>
        </a:xfrm>
      </p:grpSpPr>
      <p:sp>
        <p:nvSpPr>
          <p:cNvPr id="2" name="Eyebrow 2"/>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INTRODUCTION</a:t>
            </a:r>
            <a:endParaRPr lang="en-US" sz="1150" dirty="0"/>
          </a:p>
        </p:txBody>
      </p:sp>
      <p:sp>
        <p:nvSpPr>
          <p:cNvPr id="3" name="Title 3"/>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About This Project</a:t>
            </a:r>
            <a:endParaRPr lang="en-US" sz="3000" dirty="0"/>
          </a:p>
        </p:txBody>
      </p:sp>
      <p:sp>
        <p:nvSpPr>
          <p:cNvPr id="4" name="DarkBox 4"/>
          <p:cNvSpPr/>
          <p:nvPr/>
        </p:nvSpPr>
        <p:spPr>
          <a:xfrm>
            <a:off x="457200" y="1298448"/>
            <a:ext cx="11277295" cy="4700000"/>
          </a:xfrm>
          <a:prstGeom prst="roundRect">
            <a:avLst>
              <a:gd name="adj" fmla="val 1892"/>
            </a:avLst>
          </a:prstGeom>
          <a:solidFill>
            <a:srgbClr val="2E2418"/>
          </a:solidFill>
          <a:ln/>
        </p:spPr>
      </p:sp>
      <p:sp>
        <p:nvSpPr>
          <p:cNvPr id="5" name="DarkBoxLabel 5"/>
          <p:cNvSpPr/>
          <p:nvPr/>
        </p:nvSpPr>
        <p:spPr>
          <a:xfrm>
            <a:off x="777240" y="1572768"/>
            <a:ext cx="1063721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WHAT THIS IS</a:t>
            </a:r>
            <a:endParaRPr lang="en-US" sz="1050" dirty="0"/>
          </a:p>
        </p:txBody>
      </p:sp>
      <p:sp>
        <p:nvSpPr>
          <p:cNvPr id="6" name="DarkBoxLine 6"/>
          <p:cNvSpPr/>
          <p:nvPr/>
        </p:nvSpPr>
        <p:spPr>
          <a:xfrm>
            <a:off x="777240" y="1874520"/>
            <a:ext cx="10637215" cy="42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This presentation documents the 45 day Data Analytics Internship at ApexPlanet Software Pvt. Ltd., completed by Khushi Vig across five structured tasks, from environment setup through final deployment.</a:t>
            </a:r>
            <a:endParaRPr lang="en-US" sz="1050" dirty="0"/>
          </a:p>
        </p:txBody>
      </p:sp>
      <p:sp>
        <p:nvSpPr>
          <p:cNvPr id="7" name="DarkBoxLabel 7"/>
          <p:cNvSpPr/>
          <p:nvPr/>
        </p:nvSpPr>
        <p:spPr>
          <a:xfrm>
            <a:off x="777240" y="2431680"/>
            <a:ext cx="1063721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THE DATASET</a:t>
            </a:r>
            <a:endParaRPr lang="en-US" sz="1050" dirty="0"/>
          </a:p>
        </p:txBody>
      </p:sp>
      <p:sp>
        <p:nvSpPr>
          <p:cNvPr id="8" name="DarkBoxLine 8"/>
          <p:cNvSpPr/>
          <p:nvPr/>
        </p:nvSpPr>
        <p:spPr>
          <a:xfrm>
            <a:off x="777240" y="2733432"/>
            <a:ext cx="10637215" cy="47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The project works with the Sample Superstore retail dataset: a four year transactional record of 10,194 orders across the United States, chosen for its realistic mix of sales, discount, profit, and geographic fields.</a:t>
            </a:r>
            <a:endParaRPr lang="en-US" sz="1050" dirty="0"/>
          </a:p>
        </p:txBody>
      </p:sp>
      <p:sp>
        <p:nvSpPr>
          <p:cNvPr id="9" name="DarkBoxLabel 9"/>
          <p:cNvSpPr/>
          <p:nvPr/>
        </p:nvSpPr>
        <p:spPr>
          <a:xfrm>
            <a:off x="777240" y="3340592"/>
            <a:ext cx="1063721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THE JOURNEY</a:t>
            </a:r>
            <a:endParaRPr lang="en-US" sz="1050" dirty="0"/>
          </a:p>
        </p:txBody>
      </p:sp>
      <p:sp>
        <p:nvSpPr>
          <p:cNvPr id="10" name="DarkBoxLine 10"/>
          <p:cNvSpPr/>
          <p:nvPr/>
        </p:nvSpPr>
        <p:spPr>
          <a:xfrm>
            <a:off x="777240" y="3642344"/>
            <a:ext cx="10637215" cy="52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Across the five tasks, the work moves through data cleaning and exploratory analysis, SQL based data extraction, Python and Power BI visualisation, statistical and machine learning modelling, and a final packaged report with an automated pipeline.</a:t>
            </a:r>
            <a:endParaRPr lang="en-US" sz="1050" dirty="0"/>
          </a:p>
        </p:txBody>
      </p:sp>
      <p:sp>
        <p:nvSpPr>
          <p:cNvPr id="11" name="DarkBoxLabel 11"/>
          <p:cNvSpPr/>
          <p:nvPr/>
        </p:nvSpPr>
        <p:spPr>
          <a:xfrm>
            <a:off x="777240" y="4299504"/>
            <a:ext cx="1063721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HOW TO READ THIS DECK</a:t>
            </a:r>
            <a:endParaRPr lang="en-US" sz="1050" dirty="0"/>
          </a:p>
        </p:txBody>
      </p:sp>
      <p:sp>
        <p:nvSpPr>
          <p:cNvPr id="12" name="DarkBoxLine 12"/>
          <p:cNvSpPr/>
          <p:nvPr/>
        </p:nvSpPr>
        <p:spPr>
          <a:xfrm>
            <a:off x="777240" y="4601256"/>
            <a:ext cx="10637215" cy="52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This presentation is narrated through on screen text rather than a spoken voiceover, so every slide is written to stand on its own, with figures and findings drawn directly from the accompanying Jupyter notebooks, SQL scripts, and Power BI dashboard.</a:t>
            </a:r>
            <a:endParaRPr lang="en-US" sz="1050" dirty="0"/>
          </a:p>
        </p:txBody>
      </p:sp>
      <p:sp>
        <p:nvSpPr>
          <p:cNvPr id="13" name="Footer 13"/>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14" name="PageNum 14"/>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11">
    <p:bg>
      <p:bgPr>
        <a:solidFill>
          <a:srgbClr val="FAF6F0"/>
        </a:solidFill>
        <a:effectLst/>
      </p:bgPr>
    </p:bg>
    <p:spTree>
      <p:nvGrpSpPr>
        <p:cNvPr id="1" name=""/>
        <p:cNvGrpSpPr/>
        <p:nvPr/>
      </p:nvGrpSpPr>
      <p:grpSpPr>
        <a:xfrm>
          <a:off x="0" y="0"/>
          <a:ext cx="0" cy="0"/>
          <a:chOff x="0" y="0"/>
          <a:chExt cx="0" cy="0"/>
        </a:xfrm>
      </p:grpSpPr>
      <p:sp>
        <p:nvSpPr>
          <p:cNvPr id="2" name="Eyebrow 2"/>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OVERVIEW</a:t>
            </a:r>
            <a:endParaRPr lang="en-US" sz="1150" dirty="0"/>
          </a:p>
        </p:txBody>
      </p:sp>
      <p:sp>
        <p:nvSpPr>
          <p:cNvPr id="3" name="Title 3"/>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What This Presentation Covers</a:t>
            </a:r>
            <a:endParaRPr lang="en-US" sz="3000" dirty="0"/>
          </a:p>
        </p:txBody>
      </p:sp>
      <p:sp>
        <p:nvSpPr>
          <p:cNvPr id="4" name="NumCircle 4"/>
          <p:cNvSpPr/>
          <p:nvPr/>
        </p:nvSpPr>
        <p:spPr>
          <a:xfrm>
            <a:off x="457200" y="1298448"/>
            <a:ext cx="384048" cy="384048"/>
          </a:xfrm>
          <a:prstGeom prst="ellipse">
            <a:avLst/>
          </a:prstGeom>
          <a:solidFill>
            <a:srgbClr val="C5A15F"/>
          </a:solidFill>
          <a:ln/>
        </p:spPr>
      </p:sp>
      <p:sp>
        <p:nvSpPr>
          <p:cNvPr id="5" name="NumText 5"/>
          <p:cNvSpPr/>
          <p:nvPr/>
        </p:nvSpPr>
        <p:spPr>
          <a:xfrm>
            <a:off x="457200" y="1298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ItemTitle 6"/>
          <p:cNvSpPr/>
          <p:nvPr/>
        </p:nvSpPr>
        <p:spPr>
          <a:xfrm>
            <a:off x="1005840" y="1271016"/>
            <a:ext cx="10200000" cy="292608"/>
          </a:xfrm>
          <a:prstGeom prst="rect">
            <a:avLst/>
          </a:prstGeom>
          <a:noFill/>
          <a:ln/>
        </p:spPr>
        <p:txBody>
          <a:bodyPr wrap="square" lIns="0" tIns="0" rIns="0" bIns="0" rtlCol="0" anchor="ctr"/>
          <a:lstStyle/>
          <a:p>
            <a:pPr marL="0" indent="0" algn="l">
              <a:buNone/>
            </a:pPr>
            <a:r>
              <a:rPr lang="en-US" sz="1400" b="1" dirty="0">
                <a:solidFill>
                  <a:srgbClr val="2E2418"/>
                </a:solidFill>
                <a:latin typeface="Calibri" pitchFamily="34" charset="0"/>
                <a:ea typeface="Calibri" pitchFamily="34" charset="-122"/>
                <a:cs typeface="Calibri" pitchFamily="34" charset="-120"/>
              </a:rPr>
              <a:t>Task 1: Foundational Setup and Exploratory Data Analysis</a:t>
            </a:r>
            <a:endParaRPr lang="en-US" sz="1400" dirty="0"/>
          </a:p>
        </p:txBody>
      </p:sp>
      <p:sp>
        <p:nvSpPr>
          <p:cNvPr id="7" name="ItemDesc 7"/>
          <p:cNvSpPr/>
          <p:nvPr/>
        </p:nvSpPr>
        <p:spPr>
          <a:xfrm>
            <a:off x="1005840" y="1554480"/>
            <a:ext cx="10200000" cy="502920"/>
          </a:xfrm>
          <a:prstGeom prst="rect">
            <a:avLst/>
          </a:prstGeom>
          <a:noFill/>
          <a:ln/>
        </p:spPr>
        <p:txBody>
          <a:bodyPr wrap="square" lIns="0" tIns="0" rIns="0" bIns="0" rtlCol="0" anchor="ctr"/>
          <a:lstStyle/>
          <a:p>
            <a:pPr marL="0" indent="0" algn="l">
              <a:lnSpc>
                <a:spcPct val="110000"/>
              </a:lnSpc>
              <a:buNone/>
            </a:pPr>
            <a:r>
              <a:rPr lang="en-US" sz="1100" dirty="0">
                <a:solidFill>
                  <a:srgbClr val="8C7A67"/>
                </a:solidFill>
                <a:latin typeface="Calibri" pitchFamily="34" charset="0"/>
                <a:ea typeface="Calibri" pitchFamily="34" charset="-122"/>
                <a:cs typeface="Calibri" pitchFamily="34" charset="-120"/>
              </a:rPr>
              <a:t>Environment setup, dataset audit, data cleaning, and exploratory analysis of the Sample Superstore dataset.</a:t>
            </a:r>
            <a:endParaRPr lang="en-US" sz="1100" dirty="0"/>
          </a:p>
        </p:txBody>
      </p:sp>
      <p:sp>
        <p:nvSpPr>
          <p:cNvPr id="8" name="NumCircle 8"/>
          <p:cNvSpPr/>
          <p:nvPr/>
        </p:nvSpPr>
        <p:spPr>
          <a:xfrm>
            <a:off x="457200" y="2298448"/>
            <a:ext cx="384048" cy="384048"/>
          </a:xfrm>
          <a:prstGeom prst="ellipse">
            <a:avLst/>
          </a:prstGeom>
          <a:solidFill>
            <a:srgbClr val="C5A15F"/>
          </a:solidFill>
          <a:ln/>
        </p:spPr>
      </p:sp>
      <p:sp>
        <p:nvSpPr>
          <p:cNvPr id="9" name="NumText 9"/>
          <p:cNvSpPr/>
          <p:nvPr/>
        </p:nvSpPr>
        <p:spPr>
          <a:xfrm>
            <a:off x="457200" y="2298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ItemTitle 10"/>
          <p:cNvSpPr/>
          <p:nvPr/>
        </p:nvSpPr>
        <p:spPr>
          <a:xfrm>
            <a:off x="1005840" y="2271016"/>
            <a:ext cx="10200000" cy="292608"/>
          </a:xfrm>
          <a:prstGeom prst="rect">
            <a:avLst/>
          </a:prstGeom>
          <a:noFill/>
          <a:ln/>
        </p:spPr>
        <p:txBody>
          <a:bodyPr wrap="square" lIns="0" tIns="0" rIns="0" bIns="0" rtlCol="0" anchor="ctr"/>
          <a:lstStyle/>
          <a:p>
            <a:pPr marL="0" indent="0" algn="l">
              <a:buNone/>
            </a:pPr>
            <a:r>
              <a:rPr lang="en-US" sz="1400" b="1" dirty="0">
                <a:solidFill>
                  <a:srgbClr val="2E2418"/>
                </a:solidFill>
                <a:latin typeface="Calibri" pitchFamily="34" charset="0"/>
                <a:ea typeface="Calibri" pitchFamily="34" charset="-122"/>
                <a:cs typeface="Calibri" pitchFamily="34" charset="-120"/>
              </a:rPr>
              <a:t>Task 2: SQL and Data Extraction</a:t>
            </a:r>
            <a:endParaRPr lang="en-US" sz="1400" dirty="0"/>
          </a:p>
        </p:txBody>
      </p:sp>
      <p:sp>
        <p:nvSpPr>
          <p:cNvPr id="11" name="ItemDesc 11"/>
          <p:cNvSpPr/>
          <p:nvPr/>
        </p:nvSpPr>
        <p:spPr>
          <a:xfrm>
            <a:off x="1005840" y="2554480"/>
            <a:ext cx="10200000" cy="502920"/>
          </a:xfrm>
          <a:prstGeom prst="rect">
            <a:avLst/>
          </a:prstGeom>
          <a:noFill/>
          <a:ln/>
        </p:spPr>
        <p:txBody>
          <a:bodyPr wrap="square" lIns="0" tIns="0" rIns="0" bIns="0" rtlCol="0" anchor="ctr"/>
          <a:lstStyle/>
          <a:p>
            <a:pPr marL="0" indent="0" algn="l">
              <a:lnSpc>
                <a:spcPct val="110000"/>
              </a:lnSpc>
              <a:buNone/>
            </a:pPr>
            <a:r>
              <a:rPr lang="en-US" sz="1100" dirty="0">
                <a:solidFill>
                  <a:srgbClr val="8C7A67"/>
                </a:solidFill>
                <a:latin typeface="Calibri" pitchFamily="34" charset="0"/>
                <a:ea typeface="Calibri" pitchFamily="34" charset="-122"/>
                <a:cs typeface="Calibri" pitchFamily="34" charset="-120"/>
              </a:rPr>
              <a:t>Twenty two SQL queries covering joins, aggregations, subqueries, and window functions, integrated with Python.</a:t>
            </a:r>
            <a:endParaRPr lang="en-US" sz="1100" dirty="0"/>
          </a:p>
        </p:txBody>
      </p:sp>
      <p:sp>
        <p:nvSpPr>
          <p:cNvPr id="12" name="NumCircle 12"/>
          <p:cNvSpPr/>
          <p:nvPr/>
        </p:nvSpPr>
        <p:spPr>
          <a:xfrm>
            <a:off x="457200" y="3298448"/>
            <a:ext cx="384048" cy="384048"/>
          </a:xfrm>
          <a:prstGeom prst="ellipse">
            <a:avLst/>
          </a:prstGeom>
          <a:solidFill>
            <a:srgbClr val="C5A15F"/>
          </a:solidFill>
          <a:ln/>
        </p:spPr>
      </p:sp>
      <p:sp>
        <p:nvSpPr>
          <p:cNvPr id="13" name="NumText 13"/>
          <p:cNvSpPr/>
          <p:nvPr/>
        </p:nvSpPr>
        <p:spPr>
          <a:xfrm>
            <a:off x="457200" y="3298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ItemTitle 14"/>
          <p:cNvSpPr/>
          <p:nvPr/>
        </p:nvSpPr>
        <p:spPr>
          <a:xfrm>
            <a:off x="1005840" y="3271016"/>
            <a:ext cx="10200000" cy="292608"/>
          </a:xfrm>
          <a:prstGeom prst="rect">
            <a:avLst/>
          </a:prstGeom>
          <a:noFill/>
          <a:ln/>
        </p:spPr>
        <p:txBody>
          <a:bodyPr wrap="square" lIns="0" tIns="0" rIns="0" bIns="0" rtlCol="0" anchor="ctr"/>
          <a:lstStyle/>
          <a:p>
            <a:pPr marL="0" indent="0" algn="l">
              <a:buNone/>
            </a:pPr>
            <a:r>
              <a:rPr lang="en-US" sz="1400" b="1" dirty="0">
                <a:solidFill>
                  <a:srgbClr val="2E2418"/>
                </a:solidFill>
                <a:latin typeface="Calibri" pitchFamily="34" charset="0"/>
                <a:ea typeface="Calibri" pitchFamily="34" charset="-122"/>
                <a:cs typeface="Calibri" pitchFamily="34" charset="-120"/>
              </a:rPr>
              <a:t>Task 3: Visualisation and Dashboarding</a:t>
            </a:r>
            <a:endParaRPr lang="en-US" sz="1400" dirty="0"/>
          </a:p>
        </p:txBody>
      </p:sp>
      <p:sp>
        <p:nvSpPr>
          <p:cNvPr id="15" name="ItemDesc 15"/>
          <p:cNvSpPr/>
          <p:nvPr/>
        </p:nvSpPr>
        <p:spPr>
          <a:xfrm>
            <a:off x="1005840" y="3554480"/>
            <a:ext cx="10200000" cy="502920"/>
          </a:xfrm>
          <a:prstGeom prst="rect">
            <a:avLst/>
          </a:prstGeom>
          <a:noFill/>
          <a:ln/>
        </p:spPr>
        <p:txBody>
          <a:bodyPr wrap="square" lIns="0" tIns="0" rIns="0" bIns="0" rtlCol="0" anchor="ctr"/>
          <a:lstStyle/>
          <a:p>
            <a:pPr marL="0" indent="0" algn="l">
              <a:lnSpc>
                <a:spcPct val="110000"/>
              </a:lnSpc>
              <a:buNone/>
            </a:pPr>
            <a:r>
              <a:rPr lang="en-US" sz="1100" dirty="0">
                <a:solidFill>
                  <a:srgbClr val="8C7A67"/>
                </a:solidFill>
                <a:latin typeface="Calibri" pitchFamily="34" charset="0"/>
                <a:ea typeface="Calibri" pitchFamily="34" charset="-122"/>
                <a:cs typeface="Calibri" pitchFamily="34" charset="-120"/>
              </a:rPr>
              <a:t>Thirteen plus Python visualisations and a drill through Power BI executive dashboard.</a:t>
            </a:r>
            <a:endParaRPr lang="en-US" sz="1100" dirty="0"/>
          </a:p>
        </p:txBody>
      </p:sp>
      <p:sp>
        <p:nvSpPr>
          <p:cNvPr id="16" name="NumCircle 16"/>
          <p:cNvSpPr/>
          <p:nvPr/>
        </p:nvSpPr>
        <p:spPr>
          <a:xfrm>
            <a:off x="457200" y="4298448"/>
            <a:ext cx="384048" cy="384048"/>
          </a:xfrm>
          <a:prstGeom prst="ellipse">
            <a:avLst/>
          </a:prstGeom>
          <a:solidFill>
            <a:srgbClr val="C5A15F"/>
          </a:solidFill>
          <a:ln/>
        </p:spPr>
      </p:sp>
      <p:sp>
        <p:nvSpPr>
          <p:cNvPr id="17" name="NumText 17"/>
          <p:cNvSpPr/>
          <p:nvPr/>
        </p:nvSpPr>
        <p:spPr>
          <a:xfrm>
            <a:off x="457200" y="4298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ItemTitle 18"/>
          <p:cNvSpPr/>
          <p:nvPr/>
        </p:nvSpPr>
        <p:spPr>
          <a:xfrm>
            <a:off x="1005840" y="4271016"/>
            <a:ext cx="10200000" cy="292608"/>
          </a:xfrm>
          <a:prstGeom prst="rect">
            <a:avLst/>
          </a:prstGeom>
          <a:noFill/>
          <a:ln/>
        </p:spPr>
        <p:txBody>
          <a:bodyPr wrap="square" lIns="0" tIns="0" rIns="0" bIns="0" rtlCol="0" anchor="ctr"/>
          <a:lstStyle/>
          <a:p>
            <a:pPr marL="0" indent="0" algn="l">
              <a:buNone/>
            </a:pPr>
            <a:r>
              <a:rPr lang="en-US" sz="1400" b="1" dirty="0">
                <a:solidFill>
                  <a:srgbClr val="2E2418"/>
                </a:solidFill>
                <a:latin typeface="Calibri" pitchFamily="34" charset="0"/>
                <a:ea typeface="Calibri" pitchFamily="34" charset="-122"/>
                <a:cs typeface="Calibri" pitchFamily="34" charset="-120"/>
              </a:rPr>
              <a:t>Task 4: Advanced Analytics and Statistical Modelling</a:t>
            </a:r>
            <a:endParaRPr lang="en-US" sz="1400" dirty="0"/>
          </a:p>
        </p:txBody>
      </p:sp>
      <p:sp>
        <p:nvSpPr>
          <p:cNvPr id="19" name="ItemDesc 19"/>
          <p:cNvSpPr/>
          <p:nvPr/>
        </p:nvSpPr>
        <p:spPr>
          <a:xfrm>
            <a:off x="1005840" y="4554480"/>
            <a:ext cx="10200000" cy="502920"/>
          </a:xfrm>
          <a:prstGeom prst="rect">
            <a:avLst/>
          </a:prstGeom>
          <a:noFill/>
          <a:ln/>
        </p:spPr>
        <p:txBody>
          <a:bodyPr wrap="square" lIns="0" tIns="0" rIns="0" bIns="0" rtlCol="0" anchor="ctr"/>
          <a:lstStyle/>
          <a:p>
            <a:pPr marL="0" indent="0" algn="l">
              <a:lnSpc>
                <a:spcPct val="110000"/>
              </a:lnSpc>
              <a:buNone/>
            </a:pPr>
            <a:r>
              <a:rPr lang="en-US" sz="1100" dirty="0">
                <a:solidFill>
                  <a:srgbClr val="8C7A67"/>
                </a:solidFill>
                <a:latin typeface="Calibri" pitchFamily="34" charset="0"/>
                <a:ea typeface="Calibri" pitchFamily="34" charset="-122"/>
                <a:cs typeface="Calibri" pitchFamily="34" charset="-120"/>
              </a:rPr>
              <a:t>Hypothesis testing, correlation analysis, SARIMA forecasting, K-Means segmentation, and predictive modelling.</a:t>
            </a:r>
            <a:endParaRPr lang="en-US" sz="1100" dirty="0"/>
          </a:p>
        </p:txBody>
      </p:sp>
      <p:sp>
        <p:nvSpPr>
          <p:cNvPr id="20" name="NumCircle 20"/>
          <p:cNvSpPr/>
          <p:nvPr/>
        </p:nvSpPr>
        <p:spPr>
          <a:xfrm>
            <a:off x="457200" y="5298448"/>
            <a:ext cx="384048" cy="384048"/>
          </a:xfrm>
          <a:prstGeom prst="ellipse">
            <a:avLst/>
          </a:prstGeom>
          <a:solidFill>
            <a:srgbClr val="C5A15F"/>
          </a:solidFill>
          <a:ln/>
        </p:spPr>
      </p:sp>
      <p:sp>
        <p:nvSpPr>
          <p:cNvPr id="21" name="NumText 21"/>
          <p:cNvSpPr/>
          <p:nvPr/>
        </p:nvSpPr>
        <p:spPr>
          <a:xfrm>
            <a:off x="457200" y="5298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ItemTitle 22"/>
          <p:cNvSpPr/>
          <p:nvPr/>
        </p:nvSpPr>
        <p:spPr>
          <a:xfrm>
            <a:off x="1005840" y="5271016"/>
            <a:ext cx="10200000" cy="292608"/>
          </a:xfrm>
          <a:prstGeom prst="rect">
            <a:avLst/>
          </a:prstGeom>
          <a:noFill/>
          <a:ln/>
        </p:spPr>
        <p:txBody>
          <a:bodyPr wrap="square" lIns="0" tIns="0" rIns="0" bIns="0" rtlCol="0" anchor="ctr"/>
          <a:lstStyle/>
          <a:p>
            <a:pPr marL="0" indent="0" algn="l">
              <a:buNone/>
            </a:pPr>
            <a:r>
              <a:rPr lang="en-US" sz="1400" b="1" dirty="0">
                <a:solidFill>
                  <a:srgbClr val="2E2418"/>
                </a:solidFill>
                <a:latin typeface="Calibri" pitchFamily="34" charset="0"/>
                <a:ea typeface="Calibri" pitchFamily="34" charset="-122"/>
                <a:cs typeface="Calibri" pitchFamily="34" charset="-120"/>
              </a:rPr>
              <a:t>Task 5: Final Reporting and Presentation</a:t>
            </a:r>
            <a:endParaRPr lang="en-US" sz="1400" dirty="0"/>
          </a:p>
        </p:txBody>
      </p:sp>
      <p:sp>
        <p:nvSpPr>
          <p:cNvPr id="23" name="ItemDesc 23"/>
          <p:cNvSpPr/>
          <p:nvPr/>
        </p:nvSpPr>
        <p:spPr>
          <a:xfrm>
            <a:off x="1005840" y="5554480"/>
            <a:ext cx="10200000" cy="502920"/>
          </a:xfrm>
          <a:prstGeom prst="rect">
            <a:avLst/>
          </a:prstGeom>
          <a:noFill/>
          <a:ln/>
        </p:spPr>
        <p:txBody>
          <a:bodyPr wrap="square" lIns="0" tIns="0" rIns="0" bIns="0" rtlCol="0" anchor="ctr"/>
          <a:lstStyle/>
          <a:p>
            <a:pPr marL="0" indent="0" algn="l">
              <a:lnSpc>
                <a:spcPct val="110000"/>
              </a:lnSpc>
              <a:buNone/>
            </a:pPr>
            <a:r>
              <a:rPr lang="en-US" sz="1100" dirty="0">
                <a:solidFill>
                  <a:srgbClr val="8C7A67"/>
                </a:solidFill>
                <a:latin typeface="Calibri" pitchFamily="34" charset="0"/>
                <a:ea typeface="Calibri" pitchFamily="34" charset="-122"/>
                <a:cs typeface="Calibri" pitchFamily="34" charset="-120"/>
              </a:rPr>
              <a:t>An executive report, an automated analytics pipeline, and this end to end presentation.</a:t>
            </a:r>
            <a:endParaRPr lang="en-US" sz="1100" dirty="0"/>
          </a:p>
        </p:txBody>
      </p:sp>
      <p:sp>
        <p:nvSpPr>
          <p:cNvPr id="24" name="Footer 24"/>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5" name="PageNum 25"/>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PROJECT BRIEF</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Problem and Objectives</a:t>
            </a:r>
            <a:endParaRPr lang="en-US" sz="3000" dirty="0"/>
          </a:p>
        </p:txBody>
      </p:sp>
      <p:sp>
        <p:nvSpPr>
          <p:cNvPr id="4" name="Shape 2"/>
          <p:cNvSpPr/>
          <p:nvPr/>
        </p:nvSpPr>
        <p:spPr>
          <a:xfrm>
            <a:off x="457200" y="1298448"/>
            <a:ext cx="5394960" cy="4892040"/>
          </a:xfrm>
          <a:prstGeom prst="roundRect">
            <a:avLst>
              <a:gd name="adj" fmla="val 1495"/>
            </a:avLst>
          </a:prstGeom>
          <a:solidFill>
            <a:srgbClr val="2E2418"/>
          </a:solidFill>
          <a:ln/>
        </p:spPr>
      </p:sp>
      <p:sp>
        <p:nvSpPr>
          <p:cNvPr id="5" name="Text 3"/>
          <p:cNvSpPr/>
          <p:nvPr/>
        </p:nvSpPr>
        <p:spPr>
          <a:xfrm>
            <a:off x="777240" y="1572768"/>
            <a:ext cx="4754880" cy="228600"/>
          </a:xfrm>
          <a:prstGeom prst="rect">
            <a:avLst/>
          </a:prstGeom>
          <a:noFill/>
          <a:ln/>
        </p:spPr>
        <p:txBody>
          <a:bodyPr wrap="square" lIns="0" tIns="0" rIns="0" bIns="0" rtlCol="0" anchor="ctr"/>
          <a:lstStyle/>
          <a:p>
            <a:pPr marL="0" indent="0">
              <a:buNone/>
            </a:pPr>
            <a:r>
              <a:rPr lang="en-US" sz="1100" b="1" kern="0" spc="150" dirty="0">
                <a:solidFill>
                  <a:srgbClr val="C5A15F"/>
                </a:solidFill>
                <a:latin typeface="Calibri" pitchFamily="34" charset="0"/>
                <a:ea typeface="Calibri" pitchFamily="34" charset="-122"/>
                <a:cs typeface="Calibri" pitchFamily="34" charset="-120"/>
              </a:rPr>
              <a:t>THE PROBLEM</a:t>
            </a:r>
            <a:endParaRPr lang="en-US" sz="1100" dirty="0"/>
          </a:p>
        </p:txBody>
      </p:sp>
      <p:sp>
        <p:nvSpPr>
          <p:cNvPr id="6" name="Text 4"/>
          <p:cNvSpPr/>
          <p:nvPr/>
        </p:nvSpPr>
        <p:spPr>
          <a:xfrm>
            <a:off x="777240" y="1874520"/>
            <a:ext cx="4754880" cy="1691640"/>
          </a:xfrm>
          <a:prstGeom prst="rect">
            <a:avLst/>
          </a:prstGeom>
          <a:noFill/>
          <a:ln/>
        </p:spPr>
        <p:txBody>
          <a:bodyPr wrap="square" lIns="0" tIns="0" rIns="0" bIns="0" rtlCol="0" anchor="ctr"/>
          <a:lstStyle/>
          <a:p>
            <a:pPr marL="0" indent="0">
              <a:lnSpc>
                <a:spcPct val="120000"/>
              </a:lnSpc>
              <a:buNone/>
            </a:pPr>
            <a:r>
              <a:rPr lang="en-US" sz="1300" dirty="0">
                <a:solidFill>
                  <a:srgbClr val="F1E8DB"/>
                </a:solidFill>
                <a:latin typeface="Calibri" pitchFamily="34" charset="0"/>
                <a:ea typeface="Calibri" pitchFamily="34" charset="-122"/>
                <a:cs typeface="Calibri" pitchFamily="34" charset="-120"/>
              </a:rPr>
              <a:t>ApexPlanet's internship programme needed a portfolio ready, end to end demonstration of the analytics lifecycle applied to a real retail dataset, one that goes beyond isolated exercises and shows how cleaning, querying, visualising, and modelling connect into a single coherent story a business can act on.</a:t>
            </a:r>
            <a:endParaRPr lang="en-US" sz="1300" dirty="0"/>
          </a:p>
        </p:txBody>
      </p:sp>
      <p:sp>
        <p:nvSpPr>
          <p:cNvPr id="7" name="Text 5"/>
          <p:cNvSpPr/>
          <p:nvPr/>
        </p:nvSpPr>
        <p:spPr>
          <a:xfrm>
            <a:off x="777240" y="3703320"/>
            <a:ext cx="4754880" cy="228600"/>
          </a:xfrm>
          <a:prstGeom prst="rect">
            <a:avLst/>
          </a:prstGeom>
          <a:noFill/>
          <a:ln/>
        </p:spPr>
        <p:txBody>
          <a:bodyPr wrap="square" lIns="0" tIns="0" rIns="0" bIns="0" rtlCol="0" anchor="ctr"/>
          <a:lstStyle/>
          <a:p>
            <a:pPr marL="0" indent="0">
              <a:buNone/>
            </a:pPr>
            <a:r>
              <a:rPr lang="en-US" sz="1100" b="1" kern="0" spc="150" dirty="0">
                <a:solidFill>
                  <a:srgbClr val="C5A15F"/>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777240" y="4005072"/>
            <a:ext cx="4754880" cy="1691640"/>
          </a:xfrm>
          <a:prstGeom prst="rect">
            <a:avLst/>
          </a:prstGeom>
          <a:noFill/>
          <a:ln/>
        </p:spPr>
        <p:txBody>
          <a:bodyPr wrap="square" lIns="0" tIns="0" rIns="0" bIns="0" rtlCol="0" anchor="ctr"/>
          <a:lstStyle/>
          <a:p>
            <a:pPr marL="0" indent="0">
              <a:lnSpc>
                <a:spcPct val="120000"/>
              </a:lnSpc>
              <a:buNone/>
            </a:pPr>
            <a:r>
              <a:rPr lang="en-US" sz="1300" dirty="0">
                <a:solidFill>
                  <a:srgbClr val="F1E8DB"/>
                </a:solidFill>
                <a:latin typeface="Calibri" pitchFamily="34" charset="0"/>
                <a:ea typeface="Calibri" pitchFamily="34" charset="-122"/>
                <a:cs typeface="Calibri" pitchFamily="34" charset="-120"/>
              </a:rPr>
              <a:t>Retailers routinely sit on transaction data without a clear view of what drives profit versus what merely drives revenue. Turning raw orders into tested, decision ready insight is the core skill this project sets out to demonstrate.</a:t>
            </a:r>
            <a:endParaRPr lang="en-US" sz="1300" dirty="0"/>
          </a:p>
        </p:txBody>
      </p:sp>
      <p:sp>
        <p:nvSpPr>
          <p:cNvPr id="9" name="Text 7"/>
          <p:cNvSpPr/>
          <p:nvPr/>
        </p:nvSpPr>
        <p:spPr>
          <a:xfrm>
            <a:off x="6172200" y="1298448"/>
            <a:ext cx="5120640" cy="228600"/>
          </a:xfrm>
          <a:prstGeom prst="rect">
            <a:avLst/>
          </a:prstGeom>
          <a:noFill/>
          <a:ln/>
        </p:spPr>
        <p:txBody>
          <a:bodyPr wrap="square" lIns="0" tIns="0" rIns="0" bIns="0" rtlCol="0" anchor="ctr"/>
          <a:lstStyle/>
          <a:p>
            <a:pPr marL="0" indent="0">
              <a:buNone/>
            </a:pPr>
            <a:r>
              <a:rPr lang="en-US" sz="1100" b="1" kern="0" spc="150" dirty="0">
                <a:solidFill>
                  <a:srgbClr val="C5A15F"/>
                </a:solidFill>
                <a:latin typeface="Calibri" pitchFamily="34" charset="0"/>
                <a:ea typeface="Calibri" pitchFamily="34" charset="-122"/>
                <a:cs typeface="Calibri" pitchFamily="34" charset="-120"/>
              </a:rPr>
              <a:t>OBJECTIVES</a:t>
            </a:r>
            <a:endParaRPr lang="en-US" sz="1100" dirty="0"/>
          </a:p>
        </p:txBody>
      </p:sp>
      <p:sp>
        <p:nvSpPr>
          <p:cNvPr id="10" name="Shape 8"/>
          <p:cNvSpPr/>
          <p:nvPr/>
        </p:nvSpPr>
        <p:spPr>
          <a:xfrm>
            <a:off x="6172200" y="1627632"/>
            <a:ext cx="384048" cy="384048"/>
          </a:xfrm>
          <a:prstGeom prst="ellipse">
            <a:avLst/>
          </a:prstGeom>
          <a:solidFill>
            <a:srgbClr val="C5A15F"/>
          </a:solidFill>
          <a:ln/>
        </p:spPr>
      </p:sp>
      <p:sp>
        <p:nvSpPr>
          <p:cNvPr id="11" name="Text 9"/>
          <p:cNvSpPr/>
          <p:nvPr/>
        </p:nvSpPr>
        <p:spPr>
          <a:xfrm>
            <a:off x="6172200" y="16276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720840" y="1600200"/>
            <a:ext cx="4572000" cy="292608"/>
          </a:xfrm>
          <a:prstGeom prst="rect">
            <a:avLst/>
          </a:prstGeom>
          <a:noFill/>
          <a:ln/>
        </p:spPr>
        <p:txBody>
          <a:bodyPr wrap="square" lIns="0" tIns="0" rIns="0" bIns="0" rtlCol="0" anchor="ctr"/>
          <a:lstStyle/>
          <a:p>
            <a:pPr marL="0" indent="0">
              <a:buNone/>
            </a:pPr>
            <a:r>
              <a:rPr lang="en-US" sz="1400" b="1" dirty="0">
                <a:solidFill>
                  <a:srgbClr val="2E2418"/>
                </a:solidFill>
                <a:latin typeface="Calibri" pitchFamily="34" charset="0"/>
                <a:ea typeface="Calibri" pitchFamily="34" charset="-122"/>
                <a:cs typeface="Calibri" pitchFamily="34" charset="-120"/>
              </a:rPr>
              <a:t>Clean and understand the data</a:t>
            </a:r>
            <a:endParaRPr lang="en-US" sz="1400" dirty="0"/>
          </a:p>
        </p:txBody>
      </p:sp>
      <p:sp>
        <p:nvSpPr>
          <p:cNvPr id="13" name="Text 11"/>
          <p:cNvSpPr/>
          <p:nvPr/>
        </p:nvSpPr>
        <p:spPr>
          <a:xfrm>
            <a:off x="6720840" y="1883664"/>
            <a:ext cx="4572000" cy="502920"/>
          </a:xfrm>
          <a:prstGeom prst="rect">
            <a:avLst/>
          </a:prstGeom>
          <a:noFill/>
          <a:ln/>
        </p:spPr>
        <p:txBody>
          <a:bodyPr wrap="square" lIns="0" tIns="0" rIns="0" bIns="0" rtlCol="0" anchor="ctr"/>
          <a:lstStyle/>
          <a:p>
            <a:pPr marL="0" indent="0">
              <a:lnSpc>
                <a:spcPct val="110000"/>
              </a:lnSpc>
              <a:buNone/>
            </a:pPr>
            <a:r>
              <a:rPr lang="en-US" sz="1100" dirty="0">
                <a:solidFill>
                  <a:srgbClr val="8C7A67"/>
                </a:solidFill>
                <a:latin typeface="Calibri" pitchFamily="34" charset="0"/>
                <a:ea typeface="Calibri" pitchFamily="34" charset="-122"/>
                <a:cs typeface="Calibri" pitchFamily="34" charset="-120"/>
              </a:rPr>
              <a:t>Audit the Sample Superstore dataset for quality, structure, and business meaning before any analysis begins.</a:t>
            </a:r>
            <a:endParaRPr lang="en-US" sz="1100" dirty="0"/>
          </a:p>
        </p:txBody>
      </p:sp>
      <p:sp>
        <p:nvSpPr>
          <p:cNvPr id="14" name="Shape 12"/>
          <p:cNvSpPr/>
          <p:nvPr/>
        </p:nvSpPr>
        <p:spPr>
          <a:xfrm>
            <a:off x="6172200" y="2523744"/>
            <a:ext cx="384048" cy="384048"/>
          </a:xfrm>
          <a:prstGeom prst="ellipse">
            <a:avLst/>
          </a:prstGeom>
          <a:solidFill>
            <a:srgbClr val="C5A15F"/>
          </a:solidFill>
          <a:ln/>
        </p:spPr>
      </p:sp>
      <p:sp>
        <p:nvSpPr>
          <p:cNvPr id="15" name="Text 13"/>
          <p:cNvSpPr/>
          <p:nvPr/>
        </p:nvSpPr>
        <p:spPr>
          <a:xfrm>
            <a:off x="6172200" y="2523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6720840" y="2496312"/>
            <a:ext cx="4572000" cy="292608"/>
          </a:xfrm>
          <a:prstGeom prst="rect">
            <a:avLst/>
          </a:prstGeom>
          <a:noFill/>
          <a:ln/>
        </p:spPr>
        <p:txBody>
          <a:bodyPr wrap="square" lIns="0" tIns="0" rIns="0" bIns="0" rtlCol="0" anchor="ctr"/>
          <a:lstStyle/>
          <a:p>
            <a:pPr marL="0" indent="0">
              <a:buNone/>
            </a:pPr>
            <a:r>
              <a:rPr lang="en-US" sz="1400" b="1" dirty="0">
                <a:solidFill>
                  <a:srgbClr val="2E2418"/>
                </a:solidFill>
                <a:latin typeface="Calibri" pitchFamily="34" charset="0"/>
                <a:ea typeface="Calibri" pitchFamily="34" charset="-122"/>
                <a:cs typeface="Calibri" pitchFamily="34" charset="-120"/>
              </a:rPr>
              <a:t>Answer business questions in SQL</a:t>
            </a:r>
            <a:endParaRPr lang="en-US" sz="1400" dirty="0"/>
          </a:p>
        </p:txBody>
      </p:sp>
      <p:sp>
        <p:nvSpPr>
          <p:cNvPr id="17" name="Text 15"/>
          <p:cNvSpPr/>
          <p:nvPr/>
        </p:nvSpPr>
        <p:spPr>
          <a:xfrm>
            <a:off x="6720840" y="2779776"/>
            <a:ext cx="4572000" cy="502920"/>
          </a:xfrm>
          <a:prstGeom prst="rect">
            <a:avLst/>
          </a:prstGeom>
          <a:noFill/>
          <a:ln/>
        </p:spPr>
        <p:txBody>
          <a:bodyPr wrap="square" lIns="0" tIns="0" rIns="0" bIns="0" rtlCol="0" anchor="ctr"/>
          <a:lstStyle/>
          <a:p>
            <a:pPr marL="0" indent="0">
              <a:lnSpc>
                <a:spcPct val="110000"/>
              </a:lnSpc>
              <a:buNone/>
            </a:pPr>
            <a:r>
              <a:rPr lang="en-US" sz="1100" dirty="0">
                <a:solidFill>
                  <a:srgbClr val="8C7A67"/>
                </a:solidFill>
                <a:latin typeface="Calibri" pitchFamily="34" charset="0"/>
                <a:ea typeface="Calibri" pitchFamily="34" charset="-122"/>
                <a:cs typeface="Calibri" pitchFamily="34" charset="-120"/>
              </a:rPr>
              <a:t>Use joins, window functions, and aggregations to quantify seasonality, top customers, and category performance.</a:t>
            </a:r>
            <a:endParaRPr lang="en-US" sz="1100" dirty="0"/>
          </a:p>
        </p:txBody>
      </p:sp>
      <p:sp>
        <p:nvSpPr>
          <p:cNvPr id="18" name="Shape 16"/>
          <p:cNvSpPr/>
          <p:nvPr/>
        </p:nvSpPr>
        <p:spPr>
          <a:xfrm>
            <a:off x="6172200" y="3419856"/>
            <a:ext cx="384048" cy="384048"/>
          </a:xfrm>
          <a:prstGeom prst="ellipse">
            <a:avLst/>
          </a:prstGeom>
          <a:solidFill>
            <a:srgbClr val="C5A15F"/>
          </a:solidFill>
          <a:ln/>
        </p:spPr>
      </p:sp>
      <p:sp>
        <p:nvSpPr>
          <p:cNvPr id="19" name="Text 17"/>
          <p:cNvSpPr/>
          <p:nvPr/>
        </p:nvSpPr>
        <p:spPr>
          <a:xfrm>
            <a:off x="6172200" y="34198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6720840" y="3392424"/>
            <a:ext cx="4572000" cy="292608"/>
          </a:xfrm>
          <a:prstGeom prst="rect">
            <a:avLst/>
          </a:prstGeom>
          <a:noFill/>
          <a:ln/>
        </p:spPr>
        <p:txBody>
          <a:bodyPr wrap="square" lIns="0" tIns="0" rIns="0" bIns="0" rtlCol="0" anchor="ctr"/>
          <a:lstStyle/>
          <a:p>
            <a:pPr marL="0" indent="0">
              <a:buNone/>
            </a:pPr>
            <a:r>
              <a:rPr lang="en-US" sz="1400" b="1" dirty="0">
                <a:solidFill>
                  <a:srgbClr val="2E2418"/>
                </a:solidFill>
                <a:latin typeface="Calibri" pitchFamily="34" charset="0"/>
                <a:ea typeface="Calibri" pitchFamily="34" charset="-122"/>
                <a:cs typeface="Calibri" pitchFamily="34" charset="-120"/>
              </a:rPr>
              <a:t>Visualise and dashboard the findings</a:t>
            </a:r>
            <a:endParaRPr lang="en-US" sz="1400" dirty="0"/>
          </a:p>
        </p:txBody>
      </p:sp>
      <p:sp>
        <p:nvSpPr>
          <p:cNvPr id="21" name="Text 19"/>
          <p:cNvSpPr/>
          <p:nvPr/>
        </p:nvSpPr>
        <p:spPr>
          <a:xfrm>
            <a:off x="6720840" y="3675888"/>
            <a:ext cx="4572000" cy="502920"/>
          </a:xfrm>
          <a:prstGeom prst="rect">
            <a:avLst/>
          </a:prstGeom>
          <a:noFill/>
          <a:ln/>
        </p:spPr>
        <p:txBody>
          <a:bodyPr wrap="square" lIns="0" tIns="0" rIns="0" bIns="0" rtlCol="0" anchor="ctr"/>
          <a:lstStyle/>
          <a:p>
            <a:pPr marL="0" indent="0">
              <a:lnSpc>
                <a:spcPct val="110000"/>
              </a:lnSpc>
              <a:buNone/>
            </a:pPr>
            <a:r>
              <a:rPr lang="en-US" sz="1100" dirty="0">
                <a:solidFill>
                  <a:srgbClr val="8C7A67"/>
                </a:solidFill>
                <a:latin typeface="Calibri" pitchFamily="34" charset="0"/>
                <a:ea typeface="Calibri" pitchFamily="34" charset="-122"/>
                <a:cs typeface="Calibri" pitchFamily="34" charset="-120"/>
              </a:rPr>
              <a:t>Build 13+ Python visualisations and a drill through Power BI executive dashboard.</a:t>
            </a:r>
            <a:endParaRPr lang="en-US" sz="1100" dirty="0"/>
          </a:p>
        </p:txBody>
      </p:sp>
      <p:sp>
        <p:nvSpPr>
          <p:cNvPr id="22" name="Shape 20"/>
          <p:cNvSpPr/>
          <p:nvPr/>
        </p:nvSpPr>
        <p:spPr>
          <a:xfrm>
            <a:off x="6172200" y="4315968"/>
            <a:ext cx="384048" cy="384048"/>
          </a:xfrm>
          <a:prstGeom prst="ellipse">
            <a:avLst/>
          </a:prstGeom>
          <a:solidFill>
            <a:srgbClr val="C5A15F"/>
          </a:solidFill>
          <a:ln/>
        </p:spPr>
      </p:sp>
      <p:sp>
        <p:nvSpPr>
          <p:cNvPr id="23" name="Text 21"/>
          <p:cNvSpPr/>
          <p:nvPr/>
        </p:nvSpPr>
        <p:spPr>
          <a:xfrm>
            <a:off x="6172200" y="43159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6720840" y="4288536"/>
            <a:ext cx="4572000" cy="292608"/>
          </a:xfrm>
          <a:prstGeom prst="rect">
            <a:avLst/>
          </a:prstGeom>
          <a:noFill/>
          <a:ln/>
        </p:spPr>
        <p:txBody>
          <a:bodyPr wrap="square" lIns="0" tIns="0" rIns="0" bIns="0" rtlCol="0" anchor="ctr"/>
          <a:lstStyle/>
          <a:p>
            <a:pPr marL="0" indent="0">
              <a:buNone/>
            </a:pPr>
            <a:r>
              <a:rPr lang="en-US" sz="1400" b="1" dirty="0">
                <a:solidFill>
                  <a:srgbClr val="2E2418"/>
                </a:solidFill>
                <a:latin typeface="Calibri" pitchFamily="34" charset="0"/>
                <a:ea typeface="Calibri" pitchFamily="34" charset="-122"/>
                <a:cs typeface="Calibri" pitchFamily="34" charset="-120"/>
              </a:rPr>
              <a:t>Model statistically and predictively</a:t>
            </a:r>
            <a:endParaRPr lang="en-US" sz="1400" dirty="0"/>
          </a:p>
        </p:txBody>
      </p:sp>
      <p:sp>
        <p:nvSpPr>
          <p:cNvPr id="25" name="Text 23"/>
          <p:cNvSpPr/>
          <p:nvPr/>
        </p:nvSpPr>
        <p:spPr>
          <a:xfrm>
            <a:off x="6720840" y="4572000"/>
            <a:ext cx="4572000" cy="502920"/>
          </a:xfrm>
          <a:prstGeom prst="rect">
            <a:avLst/>
          </a:prstGeom>
          <a:noFill/>
          <a:ln/>
        </p:spPr>
        <p:txBody>
          <a:bodyPr wrap="square" lIns="0" tIns="0" rIns="0" bIns="0" rtlCol="0" anchor="ctr"/>
          <a:lstStyle/>
          <a:p>
            <a:pPr marL="0" indent="0">
              <a:lnSpc>
                <a:spcPct val="110000"/>
              </a:lnSpc>
              <a:buNone/>
            </a:pPr>
            <a:r>
              <a:rPr lang="en-US" sz="1100" dirty="0">
                <a:solidFill>
                  <a:srgbClr val="8C7A67"/>
                </a:solidFill>
                <a:latin typeface="Calibri" pitchFamily="34" charset="0"/>
                <a:ea typeface="Calibri" pitchFamily="34" charset="-122"/>
                <a:cs typeface="Calibri" pitchFamily="34" charset="-120"/>
              </a:rPr>
              <a:t>Apply hypothesis testing, SARIMA forecasting, K-Means segmentation, and classification.</a:t>
            </a:r>
            <a:endParaRPr lang="en-US" sz="1100" dirty="0"/>
          </a:p>
        </p:txBody>
      </p:sp>
      <p:sp>
        <p:nvSpPr>
          <p:cNvPr id="26" name="Shape 24"/>
          <p:cNvSpPr/>
          <p:nvPr/>
        </p:nvSpPr>
        <p:spPr>
          <a:xfrm>
            <a:off x="6172200" y="5212080"/>
            <a:ext cx="384048" cy="384048"/>
          </a:xfrm>
          <a:prstGeom prst="ellipse">
            <a:avLst/>
          </a:prstGeom>
          <a:solidFill>
            <a:srgbClr val="C5A15F"/>
          </a:solidFill>
          <a:ln/>
        </p:spPr>
      </p:sp>
      <p:sp>
        <p:nvSpPr>
          <p:cNvPr id="27" name="Text 25"/>
          <p:cNvSpPr/>
          <p:nvPr/>
        </p:nvSpPr>
        <p:spPr>
          <a:xfrm>
            <a:off x="6172200" y="5212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6720840" y="5184648"/>
            <a:ext cx="4572000" cy="292608"/>
          </a:xfrm>
          <a:prstGeom prst="rect">
            <a:avLst/>
          </a:prstGeom>
          <a:noFill/>
          <a:ln/>
        </p:spPr>
        <p:txBody>
          <a:bodyPr wrap="square" lIns="0" tIns="0" rIns="0" bIns="0" rtlCol="0" anchor="ctr"/>
          <a:lstStyle/>
          <a:p>
            <a:pPr marL="0" indent="0">
              <a:buNone/>
            </a:pPr>
            <a:r>
              <a:rPr lang="en-US" sz="1400" b="1" dirty="0">
                <a:solidFill>
                  <a:srgbClr val="2E2418"/>
                </a:solidFill>
                <a:latin typeface="Calibri" pitchFamily="34" charset="0"/>
                <a:ea typeface="Calibri" pitchFamily="34" charset="-122"/>
                <a:cs typeface="Calibri" pitchFamily="34" charset="-120"/>
              </a:rPr>
              <a:t>Report and recommend</a:t>
            </a:r>
            <a:endParaRPr lang="en-US" sz="1400" dirty="0"/>
          </a:p>
        </p:txBody>
      </p:sp>
      <p:sp>
        <p:nvSpPr>
          <p:cNvPr id="29" name="Text 27"/>
          <p:cNvSpPr/>
          <p:nvPr/>
        </p:nvSpPr>
        <p:spPr>
          <a:xfrm>
            <a:off x="6720840" y="5468112"/>
            <a:ext cx="4572000" cy="502920"/>
          </a:xfrm>
          <a:prstGeom prst="rect">
            <a:avLst/>
          </a:prstGeom>
          <a:noFill/>
          <a:ln/>
        </p:spPr>
        <p:txBody>
          <a:bodyPr wrap="square" lIns="0" tIns="0" rIns="0" bIns="0" rtlCol="0" anchor="ctr"/>
          <a:lstStyle/>
          <a:p>
            <a:pPr marL="0" indent="0">
              <a:lnSpc>
                <a:spcPct val="110000"/>
              </a:lnSpc>
              <a:buNone/>
            </a:pPr>
            <a:r>
              <a:rPr lang="en-US" sz="1100" dirty="0">
                <a:solidFill>
                  <a:srgbClr val="8C7A67"/>
                </a:solidFill>
                <a:latin typeface="Calibri" pitchFamily="34" charset="0"/>
                <a:ea typeface="Calibri" pitchFamily="34" charset="-122"/>
                <a:cs typeface="Calibri" pitchFamily="34" charset="-120"/>
              </a:rPr>
              <a:t>Package findings into an executive report and a set of actionable, evidence backed recommendations.</a:t>
            </a:r>
            <a:endParaRPr lang="en-US" sz="1100" dirty="0"/>
          </a:p>
        </p:txBody>
      </p:sp>
      <p:sp>
        <p:nvSpPr>
          <p:cNvPr id="30" name="Text 28"/>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31" name="Text 29"/>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1: FOUNDATIONAL SETUP</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Data Overview</a:t>
            </a:r>
            <a:endParaRPr lang="en-US" sz="3000" dirty="0"/>
          </a:p>
        </p:txBody>
      </p:sp>
      <p:sp>
        <p:nvSpPr>
          <p:cNvPr id="4" name="Text 2"/>
          <p:cNvSpPr/>
          <p:nvPr/>
        </p:nvSpPr>
        <p:spPr>
          <a:xfrm>
            <a:off x="457200" y="1298448"/>
            <a:ext cx="6309360" cy="777240"/>
          </a:xfrm>
          <a:prstGeom prst="rect">
            <a:avLst/>
          </a:prstGeom>
          <a:noFill/>
          <a:ln/>
        </p:spPr>
        <p:txBody>
          <a:bodyPr wrap="square" lIns="0" tIns="0" rIns="0" bIns="0" rtlCol="0" anchor="ctr"/>
          <a:lstStyle/>
          <a:p>
            <a:pPr marL="0" indent="0">
              <a:lnSpc>
                <a:spcPct val="120000"/>
              </a:lnSpc>
              <a:buNone/>
            </a:pPr>
            <a:r>
              <a:rPr lang="en-US" sz="1300" dirty="0">
                <a:solidFill>
                  <a:srgbClr val="2E2418"/>
                </a:solidFill>
                <a:latin typeface="Calibri" pitchFamily="34" charset="0"/>
                <a:ea typeface="Calibri" pitchFamily="34" charset="-122"/>
                <a:cs typeface="Calibri" pitchFamily="34" charset="-120"/>
              </a:rPr>
              <a:t>Sample Superstore dataset (Tableau public sample), a transactional retail dataset spanning four years of orders, chosen for its mix of numeric and categorical fields across sales, discount, profit, shipping, and geography.</a:t>
            </a:r>
            <a:endParaRPr lang="en-US" sz="1300" dirty="0"/>
          </a:p>
        </p:txBody>
      </p:sp>
      <p:sp>
        <p:nvSpPr>
          <p:cNvPr id="5" name="Shape 3"/>
          <p:cNvSpPr/>
          <p:nvPr/>
        </p:nvSpPr>
        <p:spPr>
          <a:xfrm>
            <a:off x="457200" y="2212848"/>
            <a:ext cx="1463040" cy="960120"/>
          </a:xfrm>
          <a:prstGeom prst="roundRect">
            <a:avLst>
              <a:gd name="adj" fmla="val 7619"/>
            </a:avLst>
          </a:prstGeom>
          <a:solidFill>
            <a:srgbClr val="F1E8DB"/>
          </a:solidFill>
          <a:ln w="12700">
            <a:solidFill>
              <a:srgbClr val="E7D9C4"/>
            </a:solidFill>
            <a:prstDash val="solid"/>
          </a:ln>
        </p:spPr>
      </p:sp>
      <p:sp>
        <p:nvSpPr>
          <p:cNvPr id="6" name="Text 4"/>
          <p:cNvSpPr/>
          <p:nvPr/>
        </p:nvSpPr>
        <p:spPr>
          <a:xfrm>
            <a:off x="457200" y="2331720"/>
            <a:ext cx="1463040" cy="457200"/>
          </a:xfrm>
          <a:prstGeom prst="rect">
            <a:avLst/>
          </a:prstGeom>
          <a:noFill/>
          <a:ln/>
        </p:spPr>
        <p:txBody>
          <a:bodyPr wrap="square" lIns="0" tIns="0" rIns="0" bIns="0" rtlCol="0" anchor="ctr"/>
          <a:lstStyle/>
          <a:p>
            <a:pPr marL="0" indent="0" algn="ctr">
              <a:buNone/>
            </a:pPr>
            <a:r>
              <a:rPr lang="en-US" sz="2200" b="1" dirty="0">
                <a:solidFill>
                  <a:srgbClr val="2E2418"/>
                </a:solidFill>
                <a:latin typeface="Cambria" pitchFamily="34" charset="0"/>
                <a:ea typeface="Cambria" pitchFamily="34" charset="-122"/>
                <a:cs typeface="Cambria" pitchFamily="34" charset="-120"/>
              </a:rPr>
              <a:t>10,194</a:t>
            </a:r>
            <a:endParaRPr lang="en-US" sz="2200" dirty="0"/>
          </a:p>
        </p:txBody>
      </p:sp>
      <p:sp>
        <p:nvSpPr>
          <p:cNvPr id="7" name="Text 5"/>
          <p:cNvSpPr/>
          <p:nvPr/>
        </p:nvSpPr>
        <p:spPr>
          <a:xfrm>
            <a:off x="457200" y="2788920"/>
            <a:ext cx="1463040" cy="320040"/>
          </a:xfrm>
          <a:prstGeom prst="rect">
            <a:avLst/>
          </a:prstGeom>
          <a:noFill/>
          <a:ln/>
        </p:spPr>
        <p:txBody>
          <a:bodyPr wrap="square" lIns="0" tIns="0" rIns="0" bIns="0" rtlCol="0" anchor="ctr"/>
          <a:lstStyle/>
          <a:p>
            <a:pPr marL="0" indent="0" algn="ctr">
              <a:buNone/>
            </a:pPr>
            <a:r>
              <a:rPr lang="en-US" sz="950" dirty="0">
                <a:solidFill>
                  <a:srgbClr val="8C7A67"/>
                </a:solidFill>
                <a:latin typeface="Calibri" pitchFamily="34" charset="0"/>
                <a:ea typeface="Calibri" pitchFamily="34" charset="-122"/>
                <a:cs typeface="Calibri" pitchFamily="34" charset="-120"/>
              </a:rPr>
              <a:t>Orders analysed</a:t>
            </a:r>
            <a:endParaRPr lang="en-US" sz="950" dirty="0"/>
          </a:p>
        </p:txBody>
      </p:sp>
      <p:sp>
        <p:nvSpPr>
          <p:cNvPr id="8" name="Shape 6"/>
          <p:cNvSpPr/>
          <p:nvPr/>
        </p:nvSpPr>
        <p:spPr>
          <a:xfrm>
            <a:off x="2057400" y="2212848"/>
            <a:ext cx="1463040" cy="960120"/>
          </a:xfrm>
          <a:prstGeom prst="roundRect">
            <a:avLst>
              <a:gd name="adj" fmla="val 7619"/>
            </a:avLst>
          </a:prstGeom>
          <a:solidFill>
            <a:srgbClr val="F1E8DB"/>
          </a:solidFill>
          <a:ln w="12700">
            <a:solidFill>
              <a:srgbClr val="E7D9C4"/>
            </a:solidFill>
            <a:prstDash val="solid"/>
          </a:ln>
        </p:spPr>
      </p:sp>
      <p:sp>
        <p:nvSpPr>
          <p:cNvPr id="9" name="Text 7"/>
          <p:cNvSpPr/>
          <p:nvPr/>
        </p:nvSpPr>
        <p:spPr>
          <a:xfrm>
            <a:off x="2057400" y="2331720"/>
            <a:ext cx="1463040" cy="457200"/>
          </a:xfrm>
          <a:prstGeom prst="rect">
            <a:avLst/>
          </a:prstGeom>
          <a:noFill/>
          <a:ln/>
        </p:spPr>
        <p:txBody>
          <a:bodyPr wrap="square" lIns="0" tIns="0" rIns="0" bIns="0" rtlCol="0" anchor="ctr"/>
          <a:lstStyle/>
          <a:p>
            <a:pPr marL="0" indent="0" algn="ctr">
              <a:buNone/>
            </a:pPr>
            <a:r>
              <a:rPr lang="en-US" sz="2200" b="1" dirty="0">
                <a:solidFill>
                  <a:srgbClr val="2E2418"/>
                </a:solidFill>
                <a:latin typeface="Cambria" pitchFamily="34" charset="0"/>
                <a:ea typeface="Cambria" pitchFamily="34" charset="-122"/>
                <a:cs typeface="Cambria" pitchFamily="34" charset="-120"/>
              </a:rPr>
              <a:t>21</a:t>
            </a:r>
            <a:endParaRPr lang="en-US" sz="2200" dirty="0"/>
          </a:p>
        </p:txBody>
      </p:sp>
      <p:sp>
        <p:nvSpPr>
          <p:cNvPr id="10" name="Text 8"/>
          <p:cNvSpPr/>
          <p:nvPr/>
        </p:nvSpPr>
        <p:spPr>
          <a:xfrm>
            <a:off x="2057400" y="2788920"/>
            <a:ext cx="1463040" cy="320040"/>
          </a:xfrm>
          <a:prstGeom prst="rect">
            <a:avLst/>
          </a:prstGeom>
          <a:noFill/>
          <a:ln/>
        </p:spPr>
        <p:txBody>
          <a:bodyPr wrap="square" lIns="0" tIns="0" rIns="0" bIns="0" rtlCol="0" anchor="ctr"/>
          <a:lstStyle/>
          <a:p>
            <a:pPr marL="0" indent="0" algn="ctr">
              <a:buNone/>
            </a:pPr>
            <a:r>
              <a:rPr lang="en-US" sz="950" dirty="0">
                <a:solidFill>
                  <a:srgbClr val="8C7A67"/>
                </a:solidFill>
                <a:latin typeface="Calibri" pitchFamily="34" charset="0"/>
                <a:ea typeface="Calibri" pitchFamily="34" charset="-122"/>
                <a:cs typeface="Calibri" pitchFamily="34" charset="-120"/>
              </a:rPr>
              <a:t>Data fields</a:t>
            </a:r>
            <a:endParaRPr lang="en-US" sz="950" dirty="0"/>
          </a:p>
        </p:txBody>
      </p:sp>
      <p:sp>
        <p:nvSpPr>
          <p:cNvPr id="11" name="Shape 9"/>
          <p:cNvSpPr/>
          <p:nvPr/>
        </p:nvSpPr>
        <p:spPr>
          <a:xfrm>
            <a:off x="3657600" y="2212848"/>
            <a:ext cx="1463040" cy="960120"/>
          </a:xfrm>
          <a:prstGeom prst="roundRect">
            <a:avLst>
              <a:gd name="adj" fmla="val 7619"/>
            </a:avLst>
          </a:prstGeom>
          <a:solidFill>
            <a:srgbClr val="F1E8DB"/>
          </a:solidFill>
          <a:ln w="12700">
            <a:solidFill>
              <a:srgbClr val="E7D9C4"/>
            </a:solidFill>
            <a:prstDash val="solid"/>
          </a:ln>
        </p:spPr>
      </p:sp>
      <p:sp>
        <p:nvSpPr>
          <p:cNvPr id="12" name="Text 10"/>
          <p:cNvSpPr/>
          <p:nvPr/>
        </p:nvSpPr>
        <p:spPr>
          <a:xfrm>
            <a:off x="3657600" y="2331720"/>
            <a:ext cx="1463040" cy="457200"/>
          </a:xfrm>
          <a:prstGeom prst="rect">
            <a:avLst/>
          </a:prstGeom>
          <a:noFill/>
          <a:ln/>
        </p:spPr>
        <p:txBody>
          <a:bodyPr wrap="square" lIns="0" tIns="0" rIns="0" bIns="0" rtlCol="0" anchor="ctr"/>
          <a:lstStyle/>
          <a:p>
            <a:pPr marL="0" indent="0" algn="ctr">
              <a:buNone/>
            </a:pPr>
            <a:r>
              <a:rPr lang="en-US" sz="2200" b="1" dirty="0">
                <a:solidFill>
                  <a:srgbClr val="2E2418"/>
                </a:solidFill>
                <a:latin typeface="Cambria" pitchFamily="34" charset="0"/>
                <a:ea typeface="Cambria" pitchFamily="34" charset="-122"/>
                <a:cs typeface="Cambria" pitchFamily="34" charset="-120"/>
              </a:rPr>
              <a:t>0</a:t>
            </a:r>
            <a:endParaRPr lang="en-US" sz="2200" dirty="0"/>
          </a:p>
        </p:txBody>
      </p:sp>
      <p:sp>
        <p:nvSpPr>
          <p:cNvPr id="13" name="Text 11"/>
          <p:cNvSpPr/>
          <p:nvPr/>
        </p:nvSpPr>
        <p:spPr>
          <a:xfrm>
            <a:off x="3657600" y="2788920"/>
            <a:ext cx="1463040" cy="320040"/>
          </a:xfrm>
          <a:prstGeom prst="rect">
            <a:avLst/>
          </a:prstGeom>
          <a:noFill/>
          <a:ln/>
        </p:spPr>
        <p:txBody>
          <a:bodyPr wrap="square" lIns="0" tIns="0" rIns="0" bIns="0" rtlCol="0" anchor="ctr"/>
          <a:lstStyle/>
          <a:p>
            <a:pPr marL="0" indent="0" algn="ctr">
              <a:buNone/>
            </a:pPr>
            <a:r>
              <a:rPr lang="en-US" sz="950" dirty="0">
                <a:solidFill>
                  <a:srgbClr val="8C7A67"/>
                </a:solidFill>
                <a:latin typeface="Calibri" pitchFamily="34" charset="0"/>
                <a:ea typeface="Calibri" pitchFamily="34" charset="-122"/>
                <a:cs typeface="Calibri" pitchFamily="34" charset="-120"/>
              </a:rPr>
              <a:t>Missing values</a:t>
            </a:r>
            <a:endParaRPr lang="en-US" sz="950" dirty="0"/>
          </a:p>
        </p:txBody>
      </p:sp>
      <p:sp>
        <p:nvSpPr>
          <p:cNvPr id="14" name="Shape 12"/>
          <p:cNvSpPr/>
          <p:nvPr/>
        </p:nvSpPr>
        <p:spPr>
          <a:xfrm>
            <a:off x="5257800" y="2212848"/>
            <a:ext cx="1463040" cy="960120"/>
          </a:xfrm>
          <a:prstGeom prst="roundRect">
            <a:avLst>
              <a:gd name="adj" fmla="val 7619"/>
            </a:avLst>
          </a:prstGeom>
          <a:solidFill>
            <a:srgbClr val="F1E8DB"/>
          </a:solidFill>
          <a:ln w="12700">
            <a:solidFill>
              <a:srgbClr val="E7D9C4"/>
            </a:solidFill>
            <a:prstDash val="solid"/>
          </a:ln>
        </p:spPr>
      </p:sp>
      <p:sp>
        <p:nvSpPr>
          <p:cNvPr id="15" name="Text 13"/>
          <p:cNvSpPr/>
          <p:nvPr/>
        </p:nvSpPr>
        <p:spPr>
          <a:xfrm>
            <a:off x="5257800" y="2331720"/>
            <a:ext cx="1463040" cy="457200"/>
          </a:xfrm>
          <a:prstGeom prst="rect">
            <a:avLst/>
          </a:prstGeom>
          <a:noFill/>
          <a:ln/>
        </p:spPr>
        <p:txBody>
          <a:bodyPr wrap="square" lIns="0" tIns="0" rIns="0" bIns="0" rtlCol="0" anchor="ctr"/>
          <a:lstStyle/>
          <a:p>
            <a:pPr marL="0" indent="0" algn="ctr">
              <a:buNone/>
            </a:pPr>
            <a:r>
              <a:rPr lang="en-US" sz="2200" b="1" dirty="0">
                <a:solidFill>
                  <a:srgbClr val="2E2418"/>
                </a:solidFill>
                <a:latin typeface="Cambria" pitchFamily="34" charset="0"/>
                <a:ea typeface="Cambria" pitchFamily="34" charset="-122"/>
                <a:cs typeface="Cambria" pitchFamily="34" charset="-120"/>
              </a:rPr>
              <a:t>800</a:t>
            </a:r>
            <a:endParaRPr lang="en-US" sz="2200" dirty="0"/>
          </a:p>
        </p:txBody>
      </p:sp>
      <p:sp>
        <p:nvSpPr>
          <p:cNvPr id="16" name="Text 14"/>
          <p:cNvSpPr/>
          <p:nvPr/>
        </p:nvSpPr>
        <p:spPr>
          <a:xfrm>
            <a:off x="5257800" y="2788920"/>
            <a:ext cx="1463040" cy="320040"/>
          </a:xfrm>
          <a:prstGeom prst="rect">
            <a:avLst/>
          </a:prstGeom>
          <a:noFill/>
          <a:ln/>
        </p:spPr>
        <p:txBody>
          <a:bodyPr wrap="square" lIns="0" tIns="0" rIns="0" bIns="0" rtlCol="0" anchor="ctr"/>
          <a:lstStyle/>
          <a:p>
            <a:pPr marL="0" indent="0" algn="ctr">
              <a:buNone/>
            </a:pPr>
            <a:r>
              <a:rPr lang="en-US" sz="950" dirty="0">
                <a:solidFill>
                  <a:srgbClr val="8C7A67"/>
                </a:solidFill>
                <a:latin typeface="Calibri" pitchFamily="34" charset="0"/>
                <a:ea typeface="Calibri" pitchFamily="34" charset="-122"/>
                <a:cs typeface="Calibri" pitchFamily="34" charset="-120"/>
              </a:rPr>
              <a:t>Unique customers</a:t>
            </a:r>
            <a:endParaRPr lang="en-US" sz="950" dirty="0"/>
          </a:p>
        </p:txBody>
      </p:sp>
      <p:sp>
        <p:nvSpPr>
          <p:cNvPr id="17" name="Text 15"/>
          <p:cNvSpPr/>
          <p:nvPr/>
        </p:nvSpPr>
        <p:spPr>
          <a:xfrm>
            <a:off x="457200" y="3520440"/>
            <a:ext cx="6309360" cy="1234440"/>
          </a:xfrm>
          <a:prstGeom prst="rect">
            <a:avLst/>
          </a:prstGeom>
          <a:noFill/>
          <a:ln/>
        </p:spPr>
        <p:txBody>
          <a:bodyPr wrap="square" lIns="0" tIns="0" rIns="0" bIns="0" rtlCol="0" anchor="ctr"/>
          <a:lstStyle/>
          <a:p>
            <a:pPr marL="0" indent="0">
              <a:lnSpc>
                <a:spcPct val="120000"/>
              </a:lnSpc>
              <a:buNone/>
            </a:pPr>
            <a:r>
              <a:rPr lang="en-US" sz="1200" dirty="0">
                <a:solidFill>
                  <a:srgbClr val="2E2418"/>
                </a:solidFill>
                <a:latin typeface="Calibri" pitchFamily="34" charset="0"/>
                <a:ea typeface="Calibri" pitchFamily="34" charset="-122"/>
                <a:cs typeface="Calibri" pitchFamily="34" charset="-120"/>
              </a:rPr>
              <a:t>Data cleaning: no missing values or duplicate rows were found across the 10,194 records. Categorical fields (Ship Mode, Segment, Region, Category, Sub-Category) were converted to category type; 1,913 profit and 1,183 sales outliers were identified by the IQR method and retained as genuine bulk orders and heavy discount transactions rather than data errors.</a:t>
            </a:r>
            <a:endParaRPr lang="en-US" sz="1200" dirty="0"/>
          </a:p>
        </p:txBody>
      </p:sp>
      <p:sp>
        <p:nvSpPr>
          <p:cNvPr id="18" name="Text 16"/>
          <p:cNvSpPr/>
          <p:nvPr/>
        </p:nvSpPr>
        <p:spPr>
          <a:xfrm>
            <a:off x="457200" y="4800600"/>
            <a:ext cx="6309360" cy="777240"/>
          </a:xfrm>
          <a:prstGeom prst="rect">
            <a:avLst/>
          </a:prstGeom>
          <a:noFill/>
          <a:ln/>
        </p:spPr>
        <p:txBody>
          <a:bodyPr wrap="square" lIns="0" tIns="0" rIns="0" bIns="0" rtlCol="0" anchor="ctr"/>
          <a:lstStyle/>
          <a:p>
            <a:pPr marL="0" indent="0">
              <a:lnSpc>
                <a:spcPct val="120000"/>
              </a:lnSpc>
              <a:buNone/>
            </a:pPr>
            <a:r>
              <a:rPr lang="en-US" sz="1200" dirty="0">
                <a:solidFill>
                  <a:srgbClr val="2E2418"/>
                </a:solidFill>
                <a:latin typeface="Calibri" pitchFamily="34" charset="0"/>
                <a:ea typeface="Calibri" pitchFamily="34" charset="-122"/>
                <a:cs typeface="Calibri" pitchFamily="34" charset="-120"/>
              </a:rPr>
              <a:t>Consumer leads the segment mix (5,281 of 10,194 orders), and Office Supplies dominates order volume at roughly 60 percent of all orders, though volume alone does not predict profitability, as later sections show.</a:t>
            </a:r>
            <a:endParaRPr lang="en-US" sz="1200" dirty="0"/>
          </a:p>
        </p:txBody>
      </p:sp>
      <p:sp>
        <p:nvSpPr>
          <p:cNvPr id="19" name="Shape 17"/>
          <p:cNvSpPr/>
          <p:nvPr/>
        </p:nvSpPr>
        <p:spPr>
          <a:xfrm>
            <a:off x="6995160" y="1298448"/>
            <a:ext cx="4279392" cy="4892040"/>
          </a:xfrm>
          <a:prstGeom prst="roundRect">
            <a:avLst>
              <a:gd name="adj" fmla="val 1709"/>
            </a:avLst>
          </a:prstGeom>
          <a:solidFill>
            <a:srgbClr val="F1E8DB"/>
          </a:solidFill>
          <a:ln w="12700">
            <a:solidFill>
              <a:srgbClr val="E7D9C4"/>
            </a:solidFill>
            <a:prstDash val="solid"/>
          </a:ln>
        </p:spPr>
      </p:sp>
      <p:sp>
        <p:nvSpPr>
          <p:cNvPr id="20" name="Text 18"/>
          <p:cNvSpPr/>
          <p:nvPr/>
        </p:nvSpPr>
        <p:spPr>
          <a:xfrm>
            <a:off x="7269480" y="1508760"/>
            <a:ext cx="3730752" cy="228600"/>
          </a:xfrm>
          <a:prstGeom prst="rect">
            <a:avLst/>
          </a:prstGeom>
          <a:noFill/>
          <a:ln/>
        </p:spPr>
        <p:txBody>
          <a:bodyPr wrap="square" lIns="0" tIns="0" rIns="0" bIns="0" rtlCol="0" anchor="ctr"/>
          <a:lstStyle/>
          <a:p>
            <a:pPr marL="0" indent="0">
              <a:buNone/>
            </a:pPr>
            <a:r>
              <a:rPr lang="en-US" sz="1050" b="1" kern="0" spc="100" dirty="0">
                <a:solidFill>
                  <a:srgbClr val="C5A15F"/>
                </a:solidFill>
                <a:latin typeface="Calibri" pitchFamily="34" charset="0"/>
                <a:ea typeface="Calibri" pitchFamily="34" charset="-122"/>
                <a:cs typeface="Calibri" pitchFamily="34" charset="-120"/>
              </a:rPr>
              <a:t>ORDERS BY CATEGORY</a:t>
            </a:r>
            <a:endParaRPr lang="en-US" sz="1050" dirty="0"/>
          </a:p>
        </p:txBody>
      </p:sp>
      <p:sp>
        <p:nvSpPr>
          <p:cNvPr id="21" name="Text 19"/>
          <p:cNvSpPr/>
          <p:nvPr/>
        </p:nvSpPr>
        <p:spPr>
          <a:xfrm>
            <a:off x="7269480" y="1874520"/>
            <a:ext cx="1371600" cy="274320"/>
          </a:xfrm>
          <a:prstGeom prst="rect">
            <a:avLst/>
          </a:prstGeom>
          <a:noFill/>
          <a:ln/>
        </p:spPr>
        <p:txBody>
          <a:bodyPr wrap="square" lIns="0" tIns="0" rIns="0" bIns="0" rtlCol="0" anchor="ctr"/>
          <a:lstStyle/>
          <a:p>
            <a:pPr marL="0" indent="0">
              <a:buNone/>
            </a:pPr>
            <a:r>
              <a:rPr lang="en-US" sz="1100" dirty="0">
                <a:solidFill>
                  <a:srgbClr val="2E2418"/>
                </a:solidFill>
                <a:latin typeface="Calibri" pitchFamily="34" charset="0"/>
                <a:ea typeface="Calibri" pitchFamily="34" charset="-122"/>
                <a:cs typeface="Calibri" pitchFamily="34" charset="-120"/>
              </a:rPr>
              <a:t>Technology</a:t>
            </a:r>
            <a:endParaRPr lang="en-US" sz="1100" dirty="0"/>
          </a:p>
        </p:txBody>
      </p:sp>
      <p:sp>
        <p:nvSpPr>
          <p:cNvPr id="22" name="Shape 20"/>
          <p:cNvSpPr/>
          <p:nvPr/>
        </p:nvSpPr>
        <p:spPr>
          <a:xfrm>
            <a:off x="8412480" y="1901952"/>
            <a:ext cx="709637" cy="219456"/>
          </a:xfrm>
          <a:prstGeom prst="rect">
            <a:avLst/>
          </a:prstGeom>
          <a:solidFill>
            <a:srgbClr val="C5A15F"/>
          </a:solidFill>
          <a:ln/>
        </p:spPr>
      </p:sp>
      <p:sp>
        <p:nvSpPr>
          <p:cNvPr id="23" name="Text 21"/>
          <p:cNvSpPr/>
          <p:nvPr/>
        </p:nvSpPr>
        <p:spPr>
          <a:xfrm>
            <a:off x="9167837" y="1874520"/>
            <a:ext cx="822960" cy="274320"/>
          </a:xfrm>
          <a:prstGeom prst="rect">
            <a:avLst/>
          </a:prstGeom>
          <a:noFill/>
          <a:ln/>
        </p:spPr>
        <p:txBody>
          <a:bodyPr wrap="square" lIns="0" tIns="0" rIns="0" bIns="0" rtlCol="0" anchor="ctr"/>
          <a:lstStyle/>
          <a:p>
            <a:pPr marL="0" indent="0">
              <a:buNone/>
            </a:pPr>
            <a:r>
              <a:rPr lang="en-US" sz="1050" dirty="0">
                <a:solidFill>
                  <a:srgbClr val="8C7A67"/>
                </a:solidFill>
                <a:latin typeface="Calibri" pitchFamily="34" charset="0"/>
                <a:ea typeface="Calibri" pitchFamily="34" charset="-122"/>
                <a:cs typeface="Calibri" pitchFamily="34" charset="-120"/>
              </a:rPr>
              <a:t>1,865</a:t>
            </a:r>
            <a:endParaRPr lang="en-US" sz="1050" dirty="0"/>
          </a:p>
        </p:txBody>
      </p:sp>
      <p:sp>
        <p:nvSpPr>
          <p:cNvPr id="24" name="Text 22"/>
          <p:cNvSpPr/>
          <p:nvPr/>
        </p:nvSpPr>
        <p:spPr>
          <a:xfrm>
            <a:off x="7269480" y="2441448"/>
            <a:ext cx="1371600" cy="274320"/>
          </a:xfrm>
          <a:prstGeom prst="rect">
            <a:avLst/>
          </a:prstGeom>
          <a:noFill/>
          <a:ln/>
        </p:spPr>
        <p:txBody>
          <a:bodyPr wrap="square" lIns="0" tIns="0" rIns="0" bIns="0" rtlCol="0" anchor="ctr"/>
          <a:lstStyle/>
          <a:p>
            <a:pPr marL="0" indent="0">
              <a:buNone/>
            </a:pPr>
            <a:r>
              <a:rPr lang="en-US" sz="1100" dirty="0">
                <a:solidFill>
                  <a:srgbClr val="2E2418"/>
                </a:solidFill>
                <a:latin typeface="Calibri" pitchFamily="34" charset="0"/>
                <a:ea typeface="Calibri" pitchFamily="34" charset="-122"/>
                <a:cs typeface="Calibri" pitchFamily="34" charset="-120"/>
              </a:rPr>
              <a:t>Furniture</a:t>
            </a:r>
            <a:endParaRPr lang="en-US" sz="1100" dirty="0"/>
          </a:p>
        </p:txBody>
      </p:sp>
      <p:sp>
        <p:nvSpPr>
          <p:cNvPr id="25" name="Shape 23"/>
          <p:cNvSpPr/>
          <p:nvPr/>
        </p:nvSpPr>
        <p:spPr>
          <a:xfrm>
            <a:off x="8412480" y="2468880"/>
            <a:ext cx="837486" cy="219456"/>
          </a:xfrm>
          <a:prstGeom prst="rect">
            <a:avLst/>
          </a:prstGeom>
          <a:solidFill>
            <a:srgbClr val="C5A15F"/>
          </a:solidFill>
          <a:ln/>
        </p:spPr>
      </p:sp>
      <p:sp>
        <p:nvSpPr>
          <p:cNvPr id="26" name="Text 24"/>
          <p:cNvSpPr/>
          <p:nvPr/>
        </p:nvSpPr>
        <p:spPr>
          <a:xfrm>
            <a:off x="9295686" y="2441448"/>
            <a:ext cx="822960" cy="274320"/>
          </a:xfrm>
          <a:prstGeom prst="rect">
            <a:avLst/>
          </a:prstGeom>
          <a:noFill/>
          <a:ln/>
        </p:spPr>
        <p:txBody>
          <a:bodyPr wrap="square" lIns="0" tIns="0" rIns="0" bIns="0" rtlCol="0" anchor="ctr"/>
          <a:lstStyle/>
          <a:p>
            <a:pPr marL="0" indent="0">
              <a:buNone/>
            </a:pPr>
            <a:r>
              <a:rPr lang="en-US" sz="1050" dirty="0">
                <a:solidFill>
                  <a:srgbClr val="8C7A67"/>
                </a:solidFill>
                <a:latin typeface="Calibri" pitchFamily="34" charset="0"/>
                <a:ea typeface="Calibri" pitchFamily="34" charset="-122"/>
                <a:cs typeface="Calibri" pitchFamily="34" charset="-120"/>
              </a:rPr>
              <a:t>2,201</a:t>
            </a:r>
            <a:endParaRPr lang="en-US" sz="1050" dirty="0"/>
          </a:p>
        </p:txBody>
      </p:sp>
      <p:sp>
        <p:nvSpPr>
          <p:cNvPr id="27" name="Text 25"/>
          <p:cNvSpPr/>
          <p:nvPr/>
        </p:nvSpPr>
        <p:spPr>
          <a:xfrm>
            <a:off x="7269480" y="3008376"/>
            <a:ext cx="1371600" cy="274320"/>
          </a:xfrm>
          <a:prstGeom prst="rect">
            <a:avLst/>
          </a:prstGeom>
          <a:noFill/>
          <a:ln/>
        </p:spPr>
        <p:txBody>
          <a:bodyPr wrap="square" lIns="0" tIns="0" rIns="0" bIns="0" rtlCol="0" anchor="ctr"/>
          <a:lstStyle/>
          <a:p>
            <a:pPr marL="0" indent="0">
              <a:buNone/>
            </a:pPr>
            <a:r>
              <a:rPr lang="en-US" sz="1100" dirty="0">
                <a:solidFill>
                  <a:srgbClr val="2E2418"/>
                </a:solidFill>
                <a:latin typeface="Calibri" pitchFamily="34" charset="0"/>
                <a:ea typeface="Calibri" pitchFamily="34" charset="-122"/>
                <a:cs typeface="Calibri" pitchFamily="34" charset="-120"/>
              </a:rPr>
              <a:t>Office Supplies</a:t>
            </a:r>
            <a:endParaRPr lang="en-US" sz="1100" dirty="0"/>
          </a:p>
        </p:txBody>
      </p:sp>
      <p:sp>
        <p:nvSpPr>
          <p:cNvPr id="28" name="Shape 26"/>
          <p:cNvSpPr/>
          <p:nvPr/>
        </p:nvSpPr>
        <p:spPr>
          <a:xfrm>
            <a:off x="8412480" y="3035808"/>
            <a:ext cx="2331720" cy="219456"/>
          </a:xfrm>
          <a:prstGeom prst="rect">
            <a:avLst/>
          </a:prstGeom>
          <a:solidFill>
            <a:srgbClr val="C5A15F"/>
          </a:solidFill>
          <a:ln/>
        </p:spPr>
      </p:sp>
      <p:sp>
        <p:nvSpPr>
          <p:cNvPr id="29" name="Text 27"/>
          <p:cNvSpPr/>
          <p:nvPr/>
        </p:nvSpPr>
        <p:spPr>
          <a:xfrm>
            <a:off x="10789920" y="3008376"/>
            <a:ext cx="822960" cy="274320"/>
          </a:xfrm>
          <a:prstGeom prst="rect">
            <a:avLst/>
          </a:prstGeom>
          <a:noFill/>
          <a:ln/>
        </p:spPr>
        <p:txBody>
          <a:bodyPr wrap="square" lIns="0" tIns="0" rIns="0" bIns="0" rtlCol="0" anchor="ctr"/>
          <a:lstStyle/>
          <a:p>
            <a:pPr marL="0" indent="0">
              <a:buNone/>
            </a:pPr>
            <a:r>
              <a:rPr lang="en-US" sz="1050" dirty="0">
                <a:solidFill>
                  <a:srgbClr val="8C7A67"/>
                </a:solidFill>
                <a:latin typeface="Calibri" pitchFamily="34" charset="0"/>
                <a:ea typeface="Calibri" pitchFamily="34" charset="-122"/>
                <a:cs typeface="Calibri" pitchFamily="34" charset="-120"/>
              </a:rPr>
              <a:t>6,128</a:t>
            </a:r>
            <a:endParaRPr lang="en-US" sz="1050" dirty="0"/>
          </a:p>
        </p:txBody>
      </p:sp>
      <p:sp>
        <p:nvSpPr>
          <p:cNvPr id="30" name="Shape 28"/>
          <p:cNvSpPr/>
          <p:nvPr/>
        </p:nvSpPr>
        <p:spPr>
          <a:xfrm>
            <a:off x="7269480" y="3621024"/>
            <a:ext cx="3730752" cy="0"/>
          </a:xfrm>
          <a:prstGeom prst="line">
            <a:avLst/>
          </a:prstGeom>
          <a:noFill/>
          <a:ln w="12700">
            <a:solidFill>
              <a:srgbClr val="E7D9C4"/>
            </a:solidFill>
            <a:prstDash val="solid"/>
          </a:ln>
        </p:spPr>
      </p:sp>
      <p:sp>
        <p:nvSpPr>
          <p:cNvPr id="31" name="Text 29"/>
          <p:cNvSpPr/>
          <p:nvPr/>
        </p:nvSpPr>
        <p:spPr>
          <a:xfrm>
            <a:off x="7269480" y="3831336"/>
            <a:ext cx="3730752" cy="228600"/>
          </a:xfrm>
          <a:prstGeom prst="rect">
            <a:avLst/>
          </a:prstGeom>
          <a:noFill/>
          <a:ln/>
        </p:spPr>
        <p:txBody>
          <a:bodyPr wrap="square" lIns="0" tIns="0" rIns="0" bIns="0" rtlCol="0" anchor="ctr"/>
          <a:lstStyle/>
          <a:p>
            <a:pPr marL="0" indent="0">
              <a:buNone/>
            </a:pPr>
            <a:r>
              <a:rPr lang="en-US" sz="1050" b="1" kern="0" spc="100" dirty="0">
                <a:solidFill>
                  <a:srgbClr val="C5A15F"/>
                </a:solidFill>
                <a:latin typeface="Calibri" pitchFamily="34" charset="0"/>
                <a:ea typeface="Calibri" pitchFamily="34" charset="-122"/>
                <a:cs typeface="Calibri" pitchFamily="34" charset="-120"/>
              </a:rPr>
              <a:t>CUSTOMER SEGMENTS</a:t>
            </a:r>
            <a:endParaRPr lang="en-US" sz="1050" dirty="0"/>
          </a:p>
        </p:txBody>
      </p:sp>
      <p:sp>
        <p:nvSpPr>
          <p:cNvPr id="32" name="Text 30"/>
          <p:cNvSpPr/>
          <p:nvPr/>
        </p:nvSpPr>
        <p:spPr>
          <a:xfrm>
            <a:off x="7269480" y="4151376"/>
            <a:ext cx="2011680" cy="274320"/>
          </a:xfrm>
          <a:prstGeom prst="rect">
            <a:avLst/>
          </a:prstGeom>
          <a:noFill/>
          <a:ln/>
        </p:spPr>
        <p:txBody>
          <a:bodyPr wrap="square" lIns="0" tIns="0" rIns="0" bIns="0" rtlCol="0" anchor="ctr"/>
          <a:lstStyle/>
          <a:p>
            <a:pPr marL="0" indent="0">
              <a:buNone/>
            </a:pPr>
            <a:r>
              <a:rPr lang="en-US" sz="1200" dirty="0">
                <a:solidFill>
                  <a:srgbClr val="2E2418"/>
                </a:solidFill>
                <a:latin typeface="Calibri" pitchFamily="34" charset="0"/>
                <a:ea typeface="Calibri" pitchFamily="34" charset="-122"/>
                <a:cs typeface="Calibri" pitchFamily="34" charset="-120"/>
              </a:rPr>
              <a:t>Consumer</a:t>
            </a:r>
            <a:endParaRPr lang="en-US" sz="1200" dirty="0"/>
          </a:p>
        </p:txBody>
      </p:sp>
      <p:sp>
        <p:nvSpPr>
          <p:cNvPr id="33" name="Text 31"/>
          <p:cNvSpPr/>
          <p:nvPr/>
        </p:nvSpPr>
        <p:spPr>
          <a:xfrm>
            <a:off x="9098280" y="4151376"/>
            <a:ext cx="1901952" cy="274320"/>
          </a:xfrm>
          <a:prstGeom prst="rect">
            <a:avLst/>
          </a:prstGeom>
          <a:noFill/>
          <a:ln/>
        </p:spPr>
        <p:txBody>
          <a:bodyPr wrap="square" lIns="0" tIns="0" rIns="0" bIns="0" rtlCol="0" anchor="ctr"/>
          <a:lstStyle/>
          <a:p>
            <a:pPr marL="0" indent="0" algn="r">
              <a:buNone/>
            </a:pPr>
            <a:r>
              <a:rPr lang="en-US" sz="1200" b="1" dirty="0">
                <a:solidFill>
                  <a:srgbClr val="2E2418"/>
                </a:solidFill>
                <a:latin typeface="Calibri" pitchFamily="34" charset="0"/>
                <a:ea typeface="Calibri" pitchFamily="34" charset="-122"/>
                <a:cs typeface="Calibri" pitchFamily="34" charset="-120"/>
              </a:rPr>
              <a:t>5,281</a:t>
            </a:r>
            <a:endParaRPr lang="en-US" sz="1200" dirty="0"/>
          </a:p>
        </p:txBody>
      </p:sp>
      <p:sp>
        <p:nvSpPr>
          <p:cNvPr id="34" name="Text 32"/>
          <p:cNvSpPr/>
          <p:nvPr/>
        </p:nvSpPr>
        <p:spPr>
          <a:xfrm>
            <a:off x="7269480" y="4480560"/>
            <a:ext cx="2011680" cy="274320"/>
          </a:xfrm>
          <a:prstGeom prst="rect">
            <a:avLst/>
          </a:prstGeom>
          <a:noFill/>
          <a:ln/>
        </p:spPr>
        <p:txBody>
          <a:bodyPr wrap="square" lIns="0" tIns="0" rIns="0" bIns="0" rtlCol="0" anchor="ctr"/>
          <a:lstStyle/>
          <a:p>
            <a:pPr marL="0" indent="0">
              <a:buNone/>
            </a:pPr>
            <a:r>
              <a:rPr lang="en-US" sz="1200" dirty="0">
                <a:solidFill>
                  <a:srgbClr val="2E2418"/>
                </a:solidFill>
                <a:latin typeface="Calibri" pitchFamily="34" charset="0"/>
                <a:ea typeface="Calibri" pitchFamily="34" charset="-122"/>
                <a:cs typeface="Calibri" pitchFamily="34" charset="-120"/>
              </a:rPr>
              <a:t>Corporate</a:t>
            </a:r>
            <a:endParaRPr lang="en-US" sz="1200" dirty="0"/>
          </a:p>
        </p:txBody>
      </p:sp>
      <p:sp>
        <p:nvSpPr>
          <p:cNvPr id="35" name="Text 33"/>
          <p:cNvSpPr/>
          <p:nvPr/>
        </p:nvSpPr>
        <p:spPr>
          <a:xfrm>
            <a:off x="9098280" y="4480560"/>
            <a:ext cx="1901952" cy="274320"/>
          </a:xfrm>
          <a:prstGeom prst="rect">
            <a:avLst/>
          </a:prstGeom>
          <a:noFill/>
          <a:ln/>
        </p:spPr>
        <p:txBody>
          <a:bodyPr wrap="square" lIns="0" tIns="0" rIns="0" bIns="0" rtlCol="0" anchor="ctr"/>
          <a:lstStyle/>
          <a:p>
            <a:pPr marL="0" indent="0" algn="r">
              <a:buNone/>
            </a:pPr>
            <a:r>
              <a:rPr lang="en-US" sz="1200" b="1" dirty="0">
                <a:solidFill>
                  <a:srgbClr val="2E2418"/>
                </a:solidFill>
                <a:latin typeface="Calibri" pitchFamily="34" charset="0"/>
                <a:ea typeface="Calibri" pitchFamily="34" charset="-122"/>
                <a:cs typeface="Calibri" pitchFamily="34" charset="-120"/>
              </a:rPr>
              <a:t>3,090</a:t>
            </a:r>
            <a:endParaRPr lang="en-US" sz="1200" dirty="0"/>
          </a:p>
        </p:txBody>
      </p:sp>
      <p:sp>
        <p:nvSpPr>
          <p:cNvPr id="36" name="Text 34"/>
          <p:cNvSpPr/>
          <p:nvPr/>
        </p:nvSpPr>
        <p:spPr>
          <a:xfrm>
            <a:off x="7269480" y="4809744"/>
            <a:ext cx="2011680" cy="274320"/>
          </a:xfrm>
          <a:prstGeom prst="rect">
            <a:avLst/>
          </a:prstGeom>
          <a:noFill/>
          <a:ln/>
        </p:spPr>
        <p:txBody>
          <a:bodyPr wrap="square" lIns="0" tIns="0" rIns="0" bIns="0" rtlCol="0" anchor="ctr"/>
          <a:lstStyle/>
          <a:p>
            <a:pPr marL="0" indent="0">
              <a:buNone/>
            </a:pPr>
            <a:r>
              <a:rPr lang="en-US" sz="1200" dirty="0">
                <a:solidFill>
                  <a:srgbClr val="2E2418"/>
                </a:solidFill>
                <a:latin typeface="Calibri" pitchFamily="34" charset="0"/>
                <a:ea typeface="Calibri" pitchFamily="34" charset="-122"/>
                <a:cs typeface="Calibri" pitchFamily="34" charset="-120"/>
              </a:rPr>
              <a:t>Home Office</a:t>
            </a:r>
            <a:endParaRPr lang="en-US" sz="1200" dirty="0"/>
          </a:p>
        </p:txBody>
      </p:sp>
      <p:sp>
        <p:nvSpPr>
          <p:cNvPr id="37" name="Text 35"/>
          <p:cNvSpPr/>
          <p:nvPr/>
        </p:nvSpPr>
        <p:spPr>
          <a:xfrm>
            <a:off x="9098280" y="4809744"/>
            <a:ext cx="1901952" cy="274320"/>
          </a:xfrm>
          <a:prstGeom prst="rect">
            <a:avLst/>
          </a:prstGeom>
          <a:noFill/>
          <a:ln/>
        </p:spPr>
        <p:txBody>
          <a:bodyPr wrap="square" lIns="0" tIns="0" rIns="0" bIns="0" rtlCol="0" anchor="ctr"/>
          <a:lstStyle/>
          <a:p>
            <a:pPr marL="0" indent="0" algn="r">
              <a:buNone/>
            </a:pPr>
            <a:r>
              <a:rPr lang="en-US" sz="1200" b="1" dirty="0">
                <a:solidFill>
                  <a:srgbClr val="2E2418"/>
                </a:solidFill>
                <a:latin typeface="Calibri" pitchFamily="34" charset="0"/>
                <a:ea typeface="Calibri" pitchFamily="34" charset="-122"/>
                <a:cs typeface="Calibri" pitchFamily="34" charset="-120"/>
              </a:rPr>
              <a:t>1,823</a:t>
            </a:r>
            <a:endParaRPr lang="en-US" sz="1200" dirty="0"/>
          </a:p>
        </p:txBody>
      </p:sp>
      <p:sp>
        <p:nvSpPr>
          <p:cNvPr id="38" name="Shape 36"/>
          <p:cNvSpPr/>
          <p:nvPr/>
        </p:nvSpPr>
        <p:spPr>
          <a:xfrm>
            <a:off x="7269480" y="5248656"/>
            <a:ext cx="3730752" cy="0"/>
          </a:xfrm>
          <a:prstGeom prst="line">
            <a:avLst/>
          </a:prstGeom>
          <a:noFill/>
          <a:ln w="12700">
            <a:solidFill>
              <a:srgbClr val="E7D9C4"/>
            </a:solidFill>
            <a:prstDash val="solid"/>
          </a:ln>
        </p:spPr>
      </p:sp>
      <p:sp>
        <p:nvSpPr>
          <p:cNvPr id="39" name="Text 37"/>
          <p:cNvSpPr/>
          <p:nvPr/>
        </p:nvSpPr>
        <p:spPr>
          <a:xfrm>
            <a:off x="7269480" y="5385816"/>
            <a:ext cx="3730752" cy="640080"/>
          </a:xfrm>
          <a:prstGeom prst="rect">
            <a:avLst/>
          </a:prstGeom>
          <a:noFill/>
          <a:ln/>
        </p:spPr>
        <p:txBody>
          <a:bodyPr wrap="square" lIns="0" tIns="0" rIns="0" bIns="0" rtlCol="0" anchor="ctr"/>
          <a:lstStyle/>
          <a:p>
            <a:pPr marL="0" indent="0">
              <a:lnSpc>
                <a:spcPct val="115000"/>
              </a:lnSpc>
              <a:buNone/>
            </a:pPr>
            <a:r>
              <a:rPr lang="en-US" sz="1050" i="1" dirty="0">
                <a:solidFill>
                  <a:srgbClr val="8C7A67"/>
                </a:solidFill>
                <a:latin typeface="Calibri" pitchFamily="34" charset="0"/>
                <a:ea typeface="Calibri" pitchFamily="34" charset="-122"/>
                <a:cs typeface="Calibri" pitchFamily="34" charset="-120"/>
              </a:rPr>
              <a:t>Regions: West (3,253) leads, followed by East (2,986), Central (2,335), and South (1,620).</a:t>
            </a:r>
            <a:endParaRPr lang="en-US" sz="1050" dirty="0"/>
          </a:p>
        </p:txBody>
      </p:sp>
      <p:sp>
        <p:nvSpPr>
          <p:cNvPr id="40" name="Text 38"/>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41" name="Text 39"/>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AF6F0"/>
        </a:solidFill>
        <a:effectLst/>
      </p:bgPr>
    </p:bg>
    <p:spTree>
      <p:nvGrpSpPr>
        <p:cNvPr id="1" name=""/>
        <p:cNvGrpSpPr/>
        <p:nvPr/>
      </p:nvGrpSpPr>
      <p:grpSpPr>
        <a:xfrm>
          <a:off x="0" y="0"/>
          <a:ext cx="0" cy="0"/>
          <a:chOff x="0" y="0"/>
          <a:chExt cx="0" cy="0"/>
        </a:xfrm>
      </p:grpSpPr>
      <p:sp>
        <p:nvSpPr>
          <p:cNvPr id="2" name="Eyebrow 2"/>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METHODOLOGY</a:t>
            </a:r>
            <a:endParaRPr lang="en-US" sz="1150" dirty="0"/>
          </a:p>
        </p:txBody>
      </p:sp>
      <p:sp>
        <p:nvSpPr>
          <p:cNvPr id="3" name="Title 3"/>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Tools and Technology Stack</a:t>
            </a:r>
            <a:endParaRPr lang="en-US" sz="3000" dirty="0"/>
          </a:p>
        </p:txBody>
      </p:sp>
      <p:sp>
        <p:nvSpPr>
          <p:cNvPr id="4" name="KPICard 4"/>
          <p:cNvSpPr/>
          <p:nvPr/>
        </p:nvSpPr>
        <p:spPr>
          <a:xfrm>
            <a:off x="457200" y="1298448"/>
            <a:ext cx="2682164" cy="1051560"/>
          </a:xfrm>
          <a:prstGeom prst="roundRect">
            <a:avLst>
              <a:gd name="adj" fmla="val 6087"/>
            </a:avLst>
          </a:prstGeom>
          <a:solidFill>
            <a:srgbClr val="FFFFFF"/>
          </a:solidFill>
          <a:ln w="12700">
            <a:solidFill>
              <a:srgbClr val="E7D9C4"/>
            </a:solidFill>
            <a:prstDash val="solid"/>
          </a:ln>
        </p:spPr>
      </p:sp>
      <p:sp>
        <p:nvSpPr>
          <p:cNvPr id="5" name="KPIBig 5"/>
          <p:cNvSpPr/>
          <p:nvPr/>
        </p:nvSpPr>
        <p:spPr>
          <a:xfrm>
            <a:off x="621792" y="1371600"/>
            <a:ext cx="2352980" cy="457200"/>
          </a:xfrm>
          <a:prstGeom prst="rect">
            <a:avLst/>
          </a:prstGeom>
          <a:noFill/>
          <a:ln/>
        </p:spPr>
        <p:txBody>
          <a:bodyPr wrap="square" lIns="0" tIns="0" rIns="0" bIns="0" rtlCol="0" anchor="ctr"/>
          <a:lstStyle/>
          <a:p>
            <a:pPr marL="0" indent="0" algn="l">
              <a:buNone/>
            </a:pPr>
            <a:r>
              <a:rPr lang="en-US" sz="2200" b="1" dirty="0">
                <a:solidFill>
                  <a:srgbClr val="2E2418"/>
                </a:solidFill>
                <a:latin typeface="Cambria" pitchFamily="34" charset="0"/>
                <a:ea typeface="Cambria" pitchFamily="34" charset="-122"/>
                <a:cs typeface="Cambria" pitchFamily="34" charset="-120"/>
              </a:rPr>
              <a:t>Python</a:t>
            </a:r>
            <a:endParaRPr lang="en-US" sz="2200" dirty="0"/>
          </a:p>
        </p:txBody>
      </p:sp>
      <p:sp>
        <p:nvSpPr>
          <p:cNvPr id="6" name="KPILabel 6"/>
          <p:cNvSpPr/>
          <p:nvPr/>
        </p:nvSpPr>
        <p:spPr>
          <a:xfrm>
            <a:off x="621792"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Core analysis and visualisation</a:t>
            </a:r>
            <a:endParaRPr lang="en-US" sz="1050" dirty="0"/>
          </a:p>
        </p:txBody>
      </p:sp>
      <p:sp>
        <p:nvSpPr>
          <p:cNvPr id="7" name="KPISub 7"/>
          <p:cNvSpPr/>
          <p:nvPr/>
        </p:nvSpPr>
        <p:spPr>
          <a:xfrm>
            <a:off x="621792"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pandas, NumPy, Matplotlib, Seaborn, Plotly</a:t>
            </a:r>
            <a:endParaRPr lang="en-US" sz="900" dirty="0"/>
          </a:p>
        </p:txBody>
      </p:sp>
      <p:sp>
        <p:nvSpPr>
          <p:cNvPr id="8" name="KPICard 8"/>
          <p:cNvSpPr/>
          <p:nvPr/>
        </p:nvSpPr>
        <p:spPr>
          <a:xfrm>
            <a:off x="3322244" y="1298448"/>
            <a:ext cx="2682164" cy="1051560"/>
          </a:xfrm>
          <a:prstGeom prst="roundRect">
            <a:avLst>
              <a:gd name="adj" fmla="val 6087"/>
            </a:avLst>
          </a:prstGeom>
          <a:solidFill>
            <a:srgbClr val="FFFFFF"/>
          </a:solidFill>
          <a:ln w="12700">
            <a:solidFill>
              <a:srgbClr val="E7D9C4"/>
            </a:solidFill>
            <a:prstDash val="solid"/>
          </a:ln>
        </p:spPr>
      </p:sp>
      <p:sp>
        <p:nvSpPr>
          <p:cNvPr id="9" name="KPIBig 9"/>
          <p:cNvSpPr/>
          <p:nvPr/>
        </p:nvSpPr>
        <p:spPr>
          <a:xfrm>
            <a:off x="3486836" y="1371600"/>
            <a:ext cx="2352980" cy="457200"/>
          </a:xfrm>
          <a:prstGeom prst="rect">
            <a:avLst/>
          </a:prstGeom>
          <a:noFill/>
          <a:ln/>
        </p:spPr>
        <p:txBody>
          <a:bodyPr wrap="square" lIns="0" tIns="0" rIns="0" bIns="0" rtlCol="0" anchor="ctr"/>
          <a:lstStyle/>
          <a:p>
            <a:pPr marL="0" indent="0" algn="l">
              <a:buNone/>
            </a:pPr>
            <a:r>
              <a:rPr lang="en-US" sz="2200" b="1" dirty="0">
                <a:solidFill>
                  <a:srgbClr val="2E2418"/>
                </a:solidFill>
                <a:latin typeface="Cambria" pitchFamily="34" charset="0"/>
                <a:ea typeface="Cambria" pitchFamily="34" charset="-122"/>
                <a:cs typeface="Cambria" pitchFamily="34" charset="-120"/>
              </a:rPr>
              <a:t>SQL</a:t>
            </a:r>
            <a:endParaRPr lang="en-US" sz="2200" dirty="0"/>
          </a:p>
        </p:txBody>
      </p:sp>
      <p:sp>
        <p:nvSpPr>
          <p:cNvPr id="10" name="KPILabel 10"/>
          <p:cNvSpPr/>
          <p:nvPr/>
        </p:nvSpPr>
        <p:spPr>
          <a:xfrm>
            <a:off x="3486836"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Data extraction and querying</a:t>
            </a:r>
            <a:endParaRPr lang="en-US" sz="1050" dirty="0"/>
          </a:p>
        </p:txBody>
      </p:sp>
      <p:sp>
        <p:nvSpPr>
          <p:cNvPr id="11" name="KPISub 11"/>
          <p:cNvSpPr/>
          <p:nvPr/>
        </p:nvSpPr>
        <p:spPr>
          <a:xfrm>
            <a:off x="3486836"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SQLite, SQLAlchemy, 22 queries</a:t>
            </a:r>
            <a:endParaRPr lang="en-US" sz="900" dirty="0"/>
          </a:p>
        </p:txBody>
      </p:sp>
      <p:sp>
        <p:nvSpPr>
          <p:cNvPr id="12" name="KPICard 12"/>
          <p:cNvSpPr/>
          <p:nvPr/>
        </p:nvSpPr>
        <p:spPr>
          <a:xfrm>
            <a:off x="6187288" y="1298448"/>
            <a:ext cx="2682164" cy="1051560"/>
          </a:xfrm>
          <a:prstGeom prst="roundRect">
            <a:avLst>
              <a:gd name="adj" fmla="val 6087"/>
            </a:avLst>
          </a:prstGeom>
          <a:solidFill>
            <a:srgbClr val="FFFFFF"/>
          </a:solidFill>
          <a:ln w="12700">
            <a:solidFill>
              <a:srgbClr val="E7D9C4"/>
            </a:solidFill>
            <a:prstDash val="solid"/>
          </a:ln>
        </p:spPr>
      </p:sp>
      <p:sp>
        <p:nvSpPr>
          <p:cNvPr id="13" name="KPIBig 13"/>
          <p:cNvSpPr/>
          <p:nvPr/>
        </p:nvSpPr>
        <p:spPr>
          <a:xfrm>
            <a:off x="6351880" y="1371600"/>
            <a:ext cx="2352980" cy="457200"/>
          </a:xfrm>
          <a:prstGeom prst="rect">
            <a:avLst/>
          </a:prstGeom>
          <a:noFill/>
          <a:ln/>
        </p:spPr>
        <p:txBody>
          <a:bodyPr wrap="square" lIns="0" tIns="0" rIns="0" bIns="0" rtlCol="0" anchor="ctr"/>
          <a:lstStyle/>
          <a:p>
            <a:pPr marL="0" indent="0" algn="l">
              <a:buNone/>
            </a:pPr>
            <a:r>
              <a:rPr lang="en-US" sz="2200" b="1" dirty="0">
                <a:solidFill>
                  <a:srgbClr val="2E2418"/>
                </a:solidFill>
                <a:latin typeface="Cambria" pitchFamily="34" charset="0"/>
                <a:ea typeface="Cambria" pitchFamily="34" charset="-122"/>
                <a:cs typeface="Cambria" pitchFamily="34" charset="-120"/>
              </a:rPr>
              <a:t>Power BI</a:t>
            </a:r>
            <a:endParaRPr lang="en-US" sz="2200" dirty="0"/>
          </a:p>
        </p:txBody>
      </p:sp>
      <p:sp>
        <p:nvSpPr>
          <p:cNvPr id="14" name="KPILabel 14"/>
          <p:cNvSpPr/>
          <p:nvPr/>
        </p:nvSpPr>
        <p:spPr>
          <a:xfrm>
            <a:off x="6351880"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Dashboarding</a:t>
            </a:r>
            <a:endParaRPr lang="en-US" sz="1050" dirty="0"/>
          </a:p>
        </p:txBody>
      </p:sp>
      <p:sp>
        <p:nvSpPr>
          <p:cNvPr id="15" name="KPISub 15"/>
          <p:cNvSpPr/>
          <p:nvPr/>
        </p:nvSpPr>
        <p:spPr>
          <a:xfrm>
            <a:off x="6351880"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DAX measures, drill-through, bookmarks</a:t>
            </a:r>
            <a:endParaRPr lang="en-US" sz="900" dirty="0"/>
          </a:p>
        </p:txBody>
      </p:sp>
      <p:sp>
        <p:nvSpPr>
          <p:cNvPr id="16" name="KPICard 16"/>
          <p:cNvSpPr/>
          <p:nvPr/>
        </p:nvSpPr>
        <p:spPr>
          <a:xfrm>
            <a:off x="9052332" y="1298448"/>
            <a:ext cx="2682164" cy="1051560"/>
          </a:xfrm>
          <a:prstGeom prst="roundRect">
            <a:avLst>
              <a:gd name="adj" fmla="val 6087"/>
            </a:avLst>
          </a:prstGeom>
          <a:solidFill>
            <a:srgbClr val="FFFFFF"/>
          </a:solidFill>
          <a:ln w="12700">
            <a:solidFill>
              <a:srgbClr val="E7D9C4"/>
            </a:solidFill>
            <a:prstDash val="solid"/>
          </a:ln>
        </p:spPr>
      </p:sp>
      <p:sp>
        <p:nvSpPr>
          <p:cNvPr id="17" name="KPIBig 17"/>
          <p:cNvSpPr/>
          <p:nvPr/>
        </p:nvSpPr>
        <p:spPr>
          <a:xfrm>
            <a:off x="9216924" y="1371600"/>
            <a:ext cx="2352980" cy="457200"/>
          </a:xfrm>
          <a:prstGeom prst="rect">
            <a:avLst/>
          </a:prstGeom>
          <a:noFill/>
          <a:ln/>
        </p:spPr>
        <p:txBody>
          <a:bodyPr wrap="square" lIns="0" tIns="0" rIns="0" bIns="0" rtlCol="0" anchor="ctr"/>
          <a:lstStyle/>
          <a:p>
            <a:pPr marL="0" indent="0" algn="l">
              <a:buNone/>
            </a:pPr>
            <a:r>
              <a:rPr lang="en-US" sz="1700" b="1" dirty="0">
                <a:solidFill>
                  <a:srgbClr val="2E2418"/>
                </a:solidFill>
                <a:latin typeface="Cambria" pitchFamily="34" charset="0"/>
                <a:ea typeface="Cambria" pitchFamily="34" charset="-122"/>
                <a:cs typeface="Cambria" pitchFamily="34" charset="-120"/>
              </a:rPr>
              <a:t>scikit-learn</a:t>
            </a:r>
            <a:endParaRPr lang="en-US" sz="1700" dirty="0"/>
          </a:p>
        </p:txBody>
      </p:sp>
      <p:sp>
        <p:nvSpPr>
          <p:cNvPr id="18" name="KPILabel 18"/>
          <p:cNvSpPr/>
          <p:nvPr/>
        </p:nvSpPr>
        <p:spPr>
          <a:xfrm>
            <a:off x="9216924"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Statistical and ML modelling</a:t>
            </a:r>
            <a:endParaRPr lang="en-US" sz="1050" dirty="0"/>
          </a:p>
        </p:txBody>
      </p:sp>
      <p:sp>
        <p:nvSpPr>
          <p:cNvPr id="19" name="KPISub 19"/>
          <p:cNvSpPr/>
          <p:nvPr/>
        </p:nvSpPr>
        <p:spPr>
          <a:xfrm>
            <a:off x="9216924"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statsmodels, SciPy, K-Means, ARIMA/SARIMA</a:t>
            </a:r>
            <a:endParaRPr lang="en-US" sz="900" dirty="0"/>
          </a:p>
        </p:txBody>
      </p:sp>
      <p:sp>
        <p:nvSpPr>
          <p:cNvPr id="20" name="DarkBox 20"/>
          <p:cNvSpPr/>
          <p:nvPr/>
        </p:nvSpPr>
        <p:spPr>
          <a:xfrm>
            <a:off x="457200" y="2606040"/>
            <a:ext cx="11277295" cy="3383280"/>
          </a:xfrm>
          <a:prstGeom prst="roundRect">
            <a:avLst>
              <a:gd name="adj" fmla="val 1892"/>
            </a:avLst>
          </a:prstGeom>
          <a:solidFill>
            <a:srgbClr val="2E2418"/>
          </a:solidFill>
          <a:ln/>
        </p:spPr>
      </p:sp>
      <p:sp>
        <p:nvSpPr>
          <p:cNvPr id="21" name="DarkBoxLabel 21"/>
          <p:cNvSpPr/>
          <p:nvPr/>
        </p:nvSpPr>
        <p:spPr>
          <a:xfrm>
            <a:off x="731520" y="2807208"/>
            <a:ext cx="1072865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HOW IT ALL FITS TOGETHER</a:t>
            </a:r>
            <a:endParaRPr lang="en-US" sz="1050" dirty="0"/>
          </a:p>
        </p:txBody>
      </p:sp>
      <p:sp>
        <p:nvSpPr>
          <p:cNvPr id="22" name="DarkBoxLine 22"/>
          <p:cNvSpPr/>
          <p:nvPr/>
        </p:nvSpPr>
        <p:spPr>
          <a:xfrm>
            <a:off x="731520" y="3118008"/>
            <a:ext cx="10728655" cy="47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Each task builds directly on the last. Cleaned data from Task 1 is loaded into a SQL database for Task 2, whose query outputs feed the Python visualisations and Power BI dashboard in Task 3.</a:t>
            </a:r>
            <a:endParaRPr lang="en-US" sz="1050" dirty="0"/>
          </a:p>
        </p:txBody>
      </p:sp>
      <p:sp>
        <p:nvSpPr>
          <p:cNvPr id="23" name="DarkBoxLine 23"/>
          <p:cNvSpPr/>
          <p:nvPr/>
        </p:nvSpPr>
        <p:spPr>
          <a:xfrm>
            <a:off x="731520" y="3618008"/>
            <a:ext cx="10728655" cy="47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Task 4 layers statistical testing, forecasting, and segmentation on top of the same cleaned dataset, and Task 5 packages every finding into an executive report, an automated pipeline, and this presentation.</a:t>
            </a:r>
            <a:endParaRPr lang="en-US" sz="1050" dirty="0"/>
          </a:p>
        </p:txBody>
      </p:sp>
      <p:sp>
        <p:nvSpPr>
          <p:cNvPr id="24" name="DarkBoxLine 24"/>
          <p:cNvSpPr/>
          <p:nvPr/>
        </p:nvSpPr>
        <p:spPr>
          <a:xfrm>
            <a:off x="731520" y="4118008"/>
            <a:ext cx="10728655" cy="47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The result mirrors how a real analytics team works: one dataset, one connected pipeline, and a consistent set of business questions carried through cleaning, querying, visualising, and modelling.</a:t>
            </a:r>
            <a:endParaRPr lang="en-US" sz="1050" dirty="0"/>
          </a:p>
        </p:txBody>
      </p:sp>
      <p:sp>
        <p:nvSpPr>
          <p:cNvPr id="25" name="Line 25"/>
          <p:cNvSpPr/>
          <p:nvPr/>
        </p:nvSpPr>
        <p:spPr>
          <a:xfrm>
            <a:off x="731520" y="4648008"/>
            <a:ext cx="10728655" cy="0"/>
          </a:xfrm>
          <a:prstGeom prst="line">
            <a:avLst/>
          </a:prstGeom>
          <a:noFill/>
          <a:ln w="12700">
            <a:solidFill>
              <a:srgbClr val="463A2E"/>
            </a:solidFill>
            <a:prstDash val="solid"/>
          </a:ln>
        </p:spPr>
      </p:sp>
      <p:sp>
        <p:nvSpPr>
          <p:cNvPr id="26" name="DarkBoxLabel 26"/>
          <p:cNvSpPr/>
          <p:nvPr/>
        </p:nvSpPr>
        <p:spPr>
          <a:xfrm>
            <a:off x="731520" y="4784040"/>
            <a:ext cx="1072865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AUTOMATION</a:t>
            </a:r>
            <a:endParaRPr lang="en-US" sz="1050" dirty="0"/>
          </a:p>
        </p:txBody>
      </p:sp>
      <p:sp>
        <p:nvSpPr>
          <p:cNvPr id="27" name="DarkBoxNote 27"/>
          <p:cNvSpPr/>
          <p:nvPr/>
        </p:nvSpPr>
        <p:spPr>
          <a:xfrm>
            <a:off x="731520" y="5056040"/>
            <a:ext cx="10728655" cy="550000"/>
          </a:xfrm>
          <a:prstGeom prst="rect">
            <a:avLst/>
          </a:prstGeom>
          <a:noFill/>
          <a:ln/>
        </p:spPr>
        <p:txBody>
          <a:bodyPr wrap="square" lIns="0" tIns="0" rIns="0" bIns="0" rtlCol="0" anchor="ctr"/>
          <a:lstStyle/>
          <a:p>
            <a:pPr marL="0" indent="0" algn="l">
              <a:lnSpc>
                <a:spcPct val="112000"/>
              </a:lnSpc>
              <a:buNone/>
            </a:pPr>
            <a:r>
              <a:rPr lang="en-US" sz="1000" i="1" dirty="0">
                <a:solidFill>
                  <a:srgbClr val="BBA07B"/>
                </a:solidFill>
                <a:latin typeface="Calibri" pitchFamily="34" charset="0"/>
                <a:ea typeface="Calibri" pitchFamily="34" charset="-122"/>
                <a:cs typeface="Calibri" pitchFamily="34" charset="-120"/>
              </a:rPr>
              <a:t>GitHub Actions runs the analytics pipeline on a weekly schedule, refreshing the cleaned dataset and KPI exports automatically.</a:t>
            </a:r>
            <a:endParaRPr lang="en-US" sz="1000" dirty="0"/>
          </a:p>
        </p:txBody>
      </p:sp>
      <p:sp>
        <p:nvSpPr>
          <p:cNvPr id="28" name="Footer 28"/>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9" name="PageNum 29"/>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1: EXPLORATORY DATA ANALYSIS</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EDA Insights: Before and After Cleaning</a:t>
            </a:r>
            <a:endParaRPr lang="en-US" sz="3000" dirty="0"/>
          </a:p>
        </p:txBody>
      </p:sp>
      <p:sp>
        <p:nvSpPr>
          <p:cNvPr id="4" name="Shape 2"/>
          <p:cNvSpPr/>
          <p:nvPr/>
        </p:nvSpPr>
        <p:spPr>
          <a:xfrm>
            <a:off x="457200" y="1298448"/>
            <a:ext cx="11277295" cy="566928"/>
          </a:xfrm>
          <a:prstGeom prst="roundRect">
            <a:avLst>
              <a:gd name="adj" fmla="val 9677"/>
            </a:avLst>
          </a:prstGeom>
          <a:solidFill>
            <a:srgbClr val="F1E8DB"/>
          </a:solidFill>
          <a:ln w="12700">
            <a:solidFill>
              <a:srgbClr val="E7D9C4"/>
            </a:solidFill>
            <a:prstDash val="solid"/>
          </a:ln>
        </p:spPr>
      </p:sp>
      <p:sp>
        <p:nvSpPr>
          <p:cNvPr id="5" name="Text 3"/>
          <p:cNvSpPr/>
          <p:nvPr/>
        </p:nvSpPr>
        <p:spPr>
          <a:xfrm>
            <a:off x="685800" y="1353312"/>
            <a:ext cx="10820095" cy="219456"/>
          </a:xfrm>
          <a:prstGeom prst="rect">
            <a:avLst/>
          </a:prstGeom>
          <a:noFill/>
          <a:ln/>
        </p:spPr>
        <p:txBody>
          <a:bodyPr wrap="square" lIns="0" tIns="0" rIns="0" bIns="0" rtlCol="0" anchor="ctr"/>
          <a:lstStyle/>
          <a:p>
            <a:pPr marL="0" indent="0">
              <a:buNone/>
            </a:pPr>
            <a:r>
              <a:rPr lang="en-US" sz="1100" b="1" dirty="0">
                <a:solidFill>
                  <a:srgbClr val="8A6F52"/>
                </a:solidFill>
                <a:latin typeface="Calibri" pitchFamily="34" charset="0"/>
                <a:ea typeface="Calibri" pitchFamily="34" charset="-122"/>
                <a:cs typeface="Calibri" pitchFamily="34" charset="-120"/>
              </a:rPr>
              <a:t>BEFORE   </a:t>
            </a:r>
            <a:r>
              <a:rPr lang="en-US" sz="1100" dirty="0">
                <a:solidFill>
                  <a:srgbClr val="2E2418"/>
                </a:solidFill>
                <a:latin typeface="Calibri" pitchFamily="34" charset="0"/>
                <a:ea typeface="Calibri" pitchFamily="34" charset="-122"/>
                <a:cs typeface="Calibri" pitchFamily="34" charset="-120"/>
              </a:rPr>
              <a:t>10,194 raw rows · mixed data types · outliers unflagged · structure undocumented</a:t>
            </a:r>
            <a:endParaRPr lang="en-US" sz="1100" dirty="0"/>
          </a:p>
        </p:txBody>
      </p:sp>
      <p:sp>
        <p:nvSpPr>
          <p:cNvPr id="6" name="Text 4"/>
          <p:cNvSpPr/>
          <p:nvPr/>
        </p:nvSpPr>
        <p:spPr>
          <a:xfrm>
            <a:off x="685800" y="1591056"/>
            <a:ext cx="10820095" cy="219456"/>
          </a:xfrm>
          <a:prstGeom prst="rect">
            <a:avLst/>
          </a:prstGeom>
          <a:noFill/>
          <a:ln/>
        </p:spPr>
        <p:txBody>
          <a:bodyPr wrap="square" lIns="0" tIns="0" rIns="0" bIns="0" rtlCol="0" anchor="ctr"/>
          <a:lstStyle/>
          <a:p>
            <a:pPr marL="0" indent="0">
              <a:buNone/>
            </a:pPr>
            <a:r>
              <a:rPr lang="en-US" sz="1100" b="1" dirty="0">
                <a:solidFill>
                  <a:srgbClr val="8A6F52"/>
                </a:solidFill>
                <a:latin typeface="Calibri" pitchFamily="34" charset="0"/>
                <a:ea typeface="Calibri" pitchFamily="34" charset="-122"/>
                <a:cs typeface="Calibri" pitchFamily="34" charset="-120"/>
              </a:rPr>
              <a:t>AFTER   </a:t>
            </a:r>
            <a:r>
              <a:rPr lang="en-US" sz="1100" dirty="0">
                <a:solidFill>
                  <a:srgbClr val="2E2418"/>
                </a:solidFill>
                <a:latin typeface="Calibri" pitchFamily="34" charset="0"/>
                <a:ea typeface="Calibri" pitchFamily="34" charset="-122"/>
                <a:cs typeface="Calibri" pitchFamily="34" charset="-120"/>
              </a:rPr>
              <a:t>0 missing values · 0 duplicates · categories typed · outliers IQR-flagged and retained as genuine business activity</a:t>
            </a:r>
            <a:endParaRPr lang="en-US" sz="1100" dirty="0"/>
          </a:p>
        </p:txBody>
      </p:sp>
      <p:sp>
        <p:nvSpPr>
          <p:cNvPr id="7" name="Shape 5"/>
          <p:cNvSpPr/>
          <p:nvPr/>
        </p:nvSpPr>
        <p:spPr>
          <a:xfrm>
            <a:off x="457200" y="2084832"/>
            <a:ext cx="3891264" cy="2514600"/>
          </a:xfrm>
          <a:prstGeom prst="roundRect">
            <a:avLst>
              <a:gd name="adj" fmla="val 2182"/>
            </a:avLst>
          </a:prstGeom>
          <a:solidFill>
            <a:srgbClr val="FFFFFF"/>
          </a:solidFill>
          <a:ln w="12700">
            <a:solidFill>
              <a:srgbClr val="E7D9C4"/>
            </a:solidFill>
            <a:prstDash val="solid"/>
          </a:ln>
        </p:spPr>
      </p:sp>
      <p:pic>
        <p:nvPicPr>
          <p:cNvPr id="8" name="Image 0" descr="/home/claude/assets/existing_media/image-4-1.png"/>
          <p:cNvPicPr>
            <a:picLocks noChangeAspect="1"/>
          </p:cNvPicPr>
          <p:nvPr/>
        </p:nvPicPr>
        <p:blipFill>
          <a:blip r:embed="rId3"/>
          <a:stretch>
            <a:fillRect/>
          </a:stretch>
        </p:blipFill>
        <p:spPr>
          <a:xfrm>
            <a:off x="512064" y="2139696"/>
            <a:ext cx="3781536" cy="2404872"/>
          </a:xfrm>
          <a:prstGeom prst="rect">
            <a:avLst/>
          </a:prstGeom>
        </p:spPr>
      </p:pic>
      <p:sp>
        <p:nvSpPr>
          <p:cNvPr id="9" name="Text 6"/>
          <p:cNvSpPr/>
          <p:nvPr/>
        </p:nvSpPr>
        <p:spPr>
          <a:xfrm>
            <a:off x="457200" y="4654296"/>
            <a:ext cx="3891264"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Figure 1. Discount versus profit, by order.</a:t>
            </a:r>
            <a:endParaRPr lang="en-US" sz="950" dirty="0"/>
          </a:p>
        </p:txBody>
      </p:sp>
      <p:sp>
        <p:nvSpPr>
          <p:cNvPr id="10" name="Shape 7"/>
          <p:cNvSpPr/>
          <p:nvPr/>
        </p:nvSpPr>
        <p:spPr>
          <a:xfrm>
            <a:off x="4604496" y="2084832"/>
            <a:ext cx="3264300" cy="2514600"/>
          </a:xfrm>
          <a:prstGeom prst="roundRect">
            <a:avLst>
              <a:gd name="adj" fmla="val 2182"/>
            </a:avLst>
          </a:prstGeom>
          <a:solidFill>
            <a:srgbClr val="2E2418"/>
          </a:solidFill>
          <a:ln/>
        </p:spPr>
      </p:sp>
      <p:sp>
        <p:nvSpPr>
          <p:cNvPr id="11" name="Text 8"/>
          <p:cNvSpPr/>
          <p:nvPr/>
        </p:nvSpPr>
        <p:spPr>
          <a:xfrm>
            <a:off x="4604496" y="2679192"/>
            <a:ext cx="3264300" cy="640080"/>
          </a:xfrm>
          <a:prstGeom prst="rect">
            <a:avLst/>
          </a:prstGeom>
          <a:noFill/>
          <a:ln/>
        </p:spPr>
        <p:txBody>
          <a:bodyPr wrap="square" lIns="0" tIns="0" rIns="0" bIns="0" rtlCol="0" anchor="ctr"/>
          <a:lstStyle/>
          <a:p>
            <a:pPr marL="0" indent="0" algn="ctr">
              <a:buNone/>
            </a:pPr>
            <a:r>
              <a:rPr lang="en-US" sz="3400" b="1" dirty="0">
                <a:solidFill>
                  <a:srgbClr val="C5A15F"/>
                </a:solidFill>
                <a:latin typeface="Cambria" pitchFamily="34" charset="0"/>
                <a:ea typeface="Cambria" pitchFamily="34" charset="-122"/>
                <a:cs typeface="Cambria" pitchFamily="34" charset="-120"/>
              </a:rPr>
              <a:t>-0.22</a:t>
            </a:r>
            <a:endParaRPr lang="en-US" sz="3400" dirty="0"/>
          </a:p>
        </p:txBody>
      </p:sp>
      <p:sp>
        <p:nvSpPr>
          <p:cNvPr id="12" name="Text 9"/>
          <p:cNvSpPr/>
          <p:nvPr/>
        </p:nvSpPr>
        <p:spPr>
          <a:xfrm>
            <a:off x="4741656" y="3346704"/>
            <a:ext cx="2989980" cy="50292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Discount vs. Profit</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correlation</a:t>
            </a:r>
            <a:endParaRPr lang="en-US" sz="1150" dirty="0"/>
          </a:p>
        </p:txBody>
      </p:sp>
      <p:sp>
        <p:nvSpPr>
          <p:cNvPr id="13" name="Text 10"/>
          <p:cNvSpPr/>
          <p:nvPr/>
        </p:nvSpPr>
        <p:spPr>
          <a:xfrm>
            <a:off x="4604496" y="3776472"/>
            <a:ext cx="3264300" cy="256032"/>
          </a:xfrm>
          <a:prstGeom prst="rect">
            <a:avLst/>
          </a:prstGeom>
          <a:noFill/>
          <a:ln/>
        </p:spPr>
        <p:txBody>
          <a:bodyPr wrap="square" lIns="0" tIns="0" rIns="0" bIns="0" rtlCol="0" anchor="ctr"/>
          <a:lstStyle/>
          <a:p>
            <a:pPr marL="0" indent="0" algn="ctr">
              <a:buNone/>
            </a:pPr>
            <a:r>
              <a:rPr lang="en-US" sz="1000" i="1" dirty="0">
                <a:solidFill>
                  <a:srgbClr val="BBA07B"/>
                </a:solidFill>
                <a:latin typeface="Calibri" pitchFamily="34" charset="0"/>
                <a:ea typeface="Calibri" pitchFamily="34" charset="-122"/>
                <a:cs typeface="Calibri" pitchFamily="34" charset="-120"/>
              </a:rPr>
              <a:t>p &lt; 0.0001</a:t>
            </a:r>
            <a:endParaRPr lang="en-US" sz="1000" dirty="0"/>
          </a:p>
        </p:txBody>
      </p:sp>
      <p:sp>
        <p:nvSpPr>
          <p:cNvPr id="14" name="Text 11"/>
          <p:cNvSpPr/>
          <p:nvPr/>
        </p:nvSpPr>
        <p:spPr>
          <a:xfrm>
            <a:off x="4787376" y="4041648"/>
            <a:ext cx="2898540" cy="502920"/>
          </a:xfrm>
          <a:prstGeom prst="rect">
            <a:avLst/>
          </a:prstGeom>
          <a:noFill/>
          <a:ln/>
        </p:spPr>
        <p:txBody>
          <a:bodyPr wrap="square" lIns="0" tIns="0" rIns="0" bIns="0" rtlCol="0" anchor="ctr"/>
          <a:lstStyle/>
          <a:p>
            <a:pPr marL="0" indent="0" algn="ctr">
              <a:lnSpc>
                <a:spcPct val="110000"/>
              </a:lnSpc>
              <a:buNone/>
            </a:pPr>
            <a:r>
              <a:rPr lang="en-US" sz="900" dirty="0">
                <a:solidFill>
                  <a:srgbClr val="F1E8DB"/>
                </a:solidFill>
                <a:latin typeface="Calibri" pitchFamily="34" charset="0"/>
                <a:ea typeface="Calibri" pitchFamily="34" charset="-122"/>
                <a:cs typeface="Calibri" pitchFamily="34" charset="-120"/>
              </a:rPr>
              <a:t>Past a 0.7-0.8 discount, almost every order loses money.</a:t>
            </a:r>
            <a:endParaRPr lang="en-US" sz="900" dirty="0"/>
          </a:p>
        </p:txBody>
      </p:sp>
      <p:sp>
        <p:nvSpPr>
          <p:cNvPr id="15" name="Shape 12"/>
          <p:cNvSpPr/>
          <p:nvPr/>
        </p:nvSpPr>
        <p:spPr>
          <a:xfrm>
            <a:off x="8124827" y="2084832"/>
            <a:ext cx="3609668" cy="2514600"/>
          </a:xfrm>
          <a:prstGeom prst="roundRect">
            <a:avLst>
              <a:gd name="adj" fmla="val 2182"/>
            </a:avLst>
          </a:prstGeom>
          <a:solidFill>
            <a:srgbClr val="FFFFFF"/>
          </a:solidFill>
          <a:ln w="12700">
            <a:solidFill>
              <a:srgbClr val="E7D9C4"/>
            </a:solidFill>
            <a:prstDash val="solid"/>
          </a:ln>
        </p:spPr>
      </p:sp>
      <p:pic>
        <p:nvPicPr>
          <p:cNvPr id="16" name="Image 1" descr="/home/claude/assets/existing_media/image-4-2.png"/>
          <p:cNvPicPr>
            <a:picLocks noChangeAspect="1"/>
          </p:cNvPicPr>
          <p:nvPr/>
        </p:nvPicPr>
        <p:blipFill>
          <a:blip r:embed="rId4"/>
          <a:stretch>
            <a:fillRect/>
          </a:stretch>
        </p:blipFill>
        <p:spPr>
          <a:xfrm>
            <a:off x="8179691" y="2139696"/>
            <a:ext cx="3499940" cy="2404872"/>
          </a:xfrm>
          <a:prstGeom prst="rect">
            <a:avLst/>
          </a:prstGeom>
        </p:spPr>
      </p:pic>
      <p:sp>
        <p:nvSpPr>
          <p:cNvPr id="17" name="Text 13"/>
          <p:cNvSpPr/>
          <p:nvPr/>
        </p:nvSpPr>
        <p:spPr>
          <a:xfrm>
            <a:off x="8124827" y="4654296"/>
            <a:ext cx="3609668"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Figure 2. Correlation heatmap: Sales, Quantity, Discount, Profit.</a:t>
            </a:r>
            <a:endParaRPr lang="en-US" sz="950" dirty="0"/>
          </a:p>
        </p:txBody>
      </p:sp>
      <p:sp>
        <p:nvSpPr>
          <p:cNvPr id="18" name="Shape 14"/>
          <p:cNvSpPr/>
          <p:nvPr/>
        </p:nvSpPr>
        <p:spPr>
          <a:xfrm>
            <a:off x="457200" y="5230368"/>
            <a:ext cx="82296" cy="82296"/>
          </a:xfrm>
          <a:prstGeom prst="rect">
            <a:avLst/>
          </a:prstGeom>
          <a:solidFill>
            <a:srgbClr val="C5A15F"/>
          </a:solidFill>
          <a:ln/>
        </p:spPr>
      </p:sp>
      <p:sp>
        <p:nvSpPr>
          <p:cNvPr id="19" name="Text 15"/>
          <p:cNvSpPr/>
          <p:nvPr/>
        </p:nvSpPr>
        <p:spPr>
          <a:xfrm>
            <a:off x="676656" y="5166360"/>
            <a:ext cx="11057839" cy="292608"/>
          </a:xfrm>
          <a:prstGeom prst="rect">
            <a:avLst/>
          </a:prstGeom>
          <a:noFill/>
          <a:ln/>
        </p:spPr>
        <p:txBody>
          <a:bodyPr wrap="square" lIns="0" tIns="0" rIns="0" bIns="0" rtlCol="0" anchor="ctr"/>
          <a:lstStyle/>
          <a:p>
            <a:pPr marL="0" indent="0">
              <a:lnSpc>
                <a:spcPct val="108000"/>
              </a:lnSpc>
              <a:buNone/>
            </a:pPr>
            <a:r>
              <a:rPr lang="en-US" sz="1080" dirty="0">
                <a:solidFill>
                  <a:srgbClr val="2E2418"/>
                </a:solidFill>
                <a:latin typeface="Calibri" pitchFamily="34" charset="0"/>
                <a:ea typeface="Calibri" pitchFamily="34" charset="-122"/>
                <a:cs typeface="Calibri" pitchFamily="34" charset="-120"/>
              </a:rPr>
              <a:t>Discount is the clearest risk factor in the dataset: Discount and Profit correlate at r = -0.22 (p &lt; 0.0001), and orders past a 0.7 to 0.8 discount are overwhelmingly loss making.</a:t>
            </a:r>
            <a:endParaRPr lang="en-US" sz="1080" dirty="0"/>
          </a:p>
        </p:txBody>
      </p:sp>
      <p:sp>
        <p:nvSpPr>
          <p:cNvPr id="20" name="Shape 16"/>
          <p:cNvSpPr/>
          <p:nvPr/>
        </p:nvSpPr>
        <p:spPr>
          <a:xfrm>
            <a:off x="457200" y="5541264"/>
            <a:ext cx="82296" cy="82296"/>
          </a:xfrm>
          <a:prstGeom prst="rect">
            <a:avLst/>
          </a:prstGeom>
          <a:solidFill>
            <a:srgbClr val="C5A15F"/>
          </a:solidFill>
          <a:ln/>
        </p:spPr>
      </p:sp>
      <p:sp>
        <p:nvSpPr>
          <p:cNvPr id="21" name="Text 17"/>
          <p:cNvSpPr/>
          <p:nvPr/>
        </p:nvSpPr>
        <p:spPr>
          <a:xfrm>
            <a:off x="676656" y="5477256"/>
            <a:ext cx="11057839" cy="292608"/>
          </a:xfrm>
          <a:prstGeom prst="rect">
            <a:avLst/>
          </a:prstGeom>
          <a:noFill/>
          <a:ln/>
        </p:spPr>
        <p:txBody>
          <a:bodyPr wrap="square" lIns="0" tIns="0" rIns="0" bIns="0" rtlCol="0" anchor="ctr"/>
          <a:lstStyle/>
          <a:p>
            <a:pPr marL="0" indent="0">
              <a:lnSpc>
                <a:spcPct val="108000"/>
              </a:lnSpc>
              <a:buNone/>
            </a:pPr>
            <a:r>
              <a:rPr lang="en-US" sz="1080" dirty="0">
                <a:solidFill>
                  <a:srgbClr val="2E2418"/>
                </a:solidFill>
                <a:latin typeface="Calibri" pitchFamily="34" charset="0"/>
                <a:ea typeface="Calibri" pitchFamily="34" charset="-122"/>
                <a:cs typeface="Calibri" pitchFamily="34" charset="-120"/>
              </a:rPr>
              <a:t>Sales and Profit correlate positively at +0.48, while Quantity shows almost no relationship with either Discount (0.01) or Profit (0.07).</a:t>
            </a:r>
            <a:endParaRPr lang="en-US" sz="1080" dirty="0"/>
          </a:p>
        </p:txBody>
      </p:sp>
      <p:sp>
        <p:nvSpPr>
          <p:cNvPr id="22" name="Shape 18"/>
          <p:cNvSpPr/>
          <p:nvPr/>
        </p:nvSpPr>
        <p:spPr>
          <a:xfrm>
            <a:off x="457200" y="5852160"/>
            <a:ext cx="82296" cy="82296"/>
          </a:xfrm>
          <a:prstGeom prst="rect">
            <a:avLst/>
          </a:prstGeom>
          <a:solidFill>
            <a:srgbClr val="C5A15F"/>
          </a:solidFill>
          <a:ln/>
        </p:spPr>
      </p:sp>
      <p:sp>
        <p:nvSpPr>
          <p:cNvPr id="23" name="Text 19"/>
          <p:cNvSpPr/>
          <p:nvPr/>
        </p:nvSpPr>
        <p:spPr>
          <a:xfrm>
            <a:off x="676656" y="5788152"/>
            <a:ext cx="11057839" cy="292608"/>
          </a:xfrm>
          <a:prstGeom prst="rect">
            <a:avLst/>
          </a:prstGeom>
          <a:noFill/>
          <a:ln/>
        </p:spPr>
        <p:txBody>
          <a:bodyPr wrap="square" lIns="0" tIns="0" rIns="0" bIns="0" rtlCol="0" anchor="ctr"/>
          <a:lstStyle/>
          <a:p>
            <a:pPr marL="0" indent="0">
              <a:lnSpc>
                <a:spcPct val="108000"/>
              </a:lnSpc>
              <a:buNone/>
            </a:pPr>
            <a:r>
              <a:rPr lang="en-US" sz="1080" dirty="0">
                <a:solidFill>
                  <a:srgbClr val="2E2418"/>
                </a:solidFill>
                <a:latin typeface="Calibri" pitchFamily="34" charset="0"/>
                <a:ea typeface="Calibri" pitchFamily="34" charset="-122"/>
                <a:cs typeface="Calibri" pitchFamily="34" charset="-120"/>
              </a:rPr>
              <a:t>Sales is heavily right skewed (skewness 12.98) with a long tail past $20,000; Profit clusters tightly around zero with occasional large swings (kurtosis 401.69).</a:t>
            </a:r>
            <a:endParaRPr lang="en-US" sz="1080" dirty="0"/>
          </a:p>
        </p:txBody>
      </p:sp>
      <p:sp>
        <p:nvSpPr>
          <p:cNvPr id="24" name="Text 20"/>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5" name="Text 21"/>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AF6F0"/>
        </a:solidFill>
        <a:effectLst/>
      </p:bgPr>
    </p:bg>
    <p:spTree>
      <p:nvGrpSpPr>
        <p:cNvPr id="1" name=""/>
        <p:cNvGrpSpPr/>
        <p:nvPr/>
      </p:nvGrpSpPr>
      <p:grpSpPr>
        <a:xfrm>
          <a:off x="0" y="0"/>
          <a:ext cx="0" cy="0"/>
          <a:chOff x="0" y="0"/>
          <a:chExt cx="0" cy="0"/>
        </a:xfrm>
      </p:grpSpPr>
      <p:sp>
        <p:nvSpPr>
          <p:cNvPr id="2" name="Eyebrow 2"/>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2: SQL AND DATA EXTRACTION</a:t>
            </a:r>
            <a:endParaRPr lang="en-US" sz="1150" dirty="0"/>
          </a:p>
        </p:txBody>
      </p:sp>
      <p:sp>
        <p:nvSpPr>
          <p:cNvPr id="3" name="Title 3"/>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Querying the Business Questions</a:t>
            </a:r>
            <a:endParaRPr lang="en-US" sz="3000" dirty="0"/>
          </a:p>
        </p:txBody>
      </p:sp>
      <p:sp>
        <p:nvSpPr>
          <p:cNvPr id="4" name="KPICard 4"/>
          <p:cNvSpPr/>
          <p:nvPr/>
        </p:nvSpPr>
        <p:spPr>
          <a:xfrm>
            <a:off x="457200" y="1298448"/>
            <a:ext cx="2682164" cy="1051560"/>
          </a:xfrm>
          <a:prstGeom prst="roundRect">
            <a:avLst>
              <a:gd name="adj" fmla="val 6087"/>
            </a:avLst>
          </a:prstGeom>
          <a:solidFill>
            <a:srgbClr val="FFFFFF"/>
          </a:solidFill>
          <a:ln w="12700">
            <a:solidFill>
              <a:srgbClr val="E7D9C4"/>
            </a:solidFill>
            <a:prstDash val="solid"/>
          </a:ln>
        </p:spPr>
      </p:sp>
      <p:sp>
        <p:nvSpPr>
          <p:cNvPr id="5" name="KPIBig 5"/>
          <p:cNvSpPr/>
          <p:nvPr/>
        </p:nvSpPr>
        <p:spPr>
          <a:xfrm>
            <a:off x="621792" y="1371600"/>
            <a:ext cx="2352980" cy="457200"/>
          </a:xfrm>
          <a:prstGeom prst="rect">
            <a:avLst/>
          </a:prstGeom>
          <a:noFill/>
          <a:ln/>
        </p:spPr>
        <p:txBody>
          <a:bodyPr wrap="square" lIns="0" tIns="0" rIns="0" bIns="0" rtlCol="0" anchor="ctr"/>
          <a:lstStyle/>
          <a:p>
            <a:pPr marL="0" indent="0" algn="l">
              <a:buNone/>
            </a:pPr>
            <a:r>
              <a:rPr lang="en-US" sz="2500" b="1" dirty="0">
                <a:solidFill>
                  <a:srgbClr val="2E2418"/>
                </a:solidFill>
                <a:latin typeface="Cambria" pitchFamily="34" charset="0"/>
                <a:ea typeface="Cambria" pitchFamily="34" charset="-122"/>
                <a:cs typeface="Cambria" pitchFamily="34" charset="-120"/>
              </a:rPr>
              <a:t>22</a:t>
            </a:r>
            <a:endParaRPr lang="en-US" sz="2500" dirty="0"/>
          </a:p>
        </p:txBody>
      </p:sp>
      <p:sp>
        <p:nvSpPr>
          <p:cNvPr id="6" name="KPILabel 6"/>
          <p:cNvSpPr/>
          <p:nvPr/>
        </p:nvSpPr>
        <p:spPr>
          <a:xfrm>
            <a:off x="621792"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SQL queries written</a:t>
            </a:r>
            <a:endParaRPr lang="en-US" sz="1050" dirty="0"/>
          </a:p>
        </p:txBody>
      </p:sp>
      <p:sp>
        <p:nvSpPr>
          <p:cNvPr id="7" name="KPISub 7"/>
          <p:cNvSpPr/>
          <p:nvPr/>
        </p:nvSpPr>
        <p:spPr>
          <a:xfrm>
            <a:off x="621792"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SELECT through window functions</a:t>
            </a:r>
            <a:endParaRPr lang="en-US" sz="900" dirty="0"/>
          </a:p>
        </p:txBody>
      </p:sp>
      <p:sp>
        <p:nvSpPr>
          <p:cNvPr id="8" name="KPICard 8"/>
          <p:cNvSpPr/>
          <p:nvPr/>
        </p:nvSpPr>
        <p:spPr>
          <a:xfrm>
            <a:off x="3322244" y="1298448"/>
            <a:ext cx="2682164" cy="1051560"/>
          </a:xfrm>
          <a:prstGeom prst="roundRect">
            <a:avLst>
              <a:gd name="adj" fmla="val 6087"/>
            </a:avLst>
          </a:prstGeom>
          <a:solidFill>
            <a:srgbClr val="FFFFFF"/>
          </a:solidFill>
          <a:ln w="12700">
            <a:solidFill>
              <a:srgbClr val="E7D9C4"/>
            </a:solidFill>
            <a:prstDash val="solid"/>
          </a:ln>
        </p:spPr>
      </p:sp>
      <p:sp>
        <p:nvSpPr>
          <p:cNvPr id="9" name="KPIBig 9"/>
          <p:cNvSpPr/>
          <p:nvPr/>
        </p:nvSpPr>
        <p:spPr>
          <a:xfrm>
            <a:off x="3486836" y="1371600"/>
            <a:ext cx="2352980" cy="457200"/>
          </a:xfrm>
          <a:prstGeom prst="rect">
            <a:avLst/>
          </a:prstGeom>
          <a:noFill/>
          <a:ln/>
        </p:spPr>
        <p:txBody>
          <a:bodyPr wrap="square" lIns="0" tIns="0" rIns="0" bIns="0" rtlCol="0" anchor="ctr"/>
          <a:lstStyle/>
          <a:p>
            <a:pPr marL="0" indent="0" algn="l">
              <a:buNone/>
            </a:pPr>
            <a:r>
              <a:rPr lang="en-US" sz="2500" b="1" dirty="0">
                <a:solidFill>
                  <a:srgbClr val="2E2418"/>
                </a:solidFill>
                <a:latin typeface="Cambria" pitchFamily="34" charset="0"/>
                <a:ea typeface="Cambria" pitchFamily="34" charset="-122"/>
                <a:cs typeface="Cambria" pitchFamily="34" charset="-120"/>
              </a:rPr>
              <a:t>98.5%</a:t>
            </a:r>
            <a:endParaRPr lang="en-US" sz="2500" dirty="0"/>
          </a:p>
        </p:txBody>
      </p:sp>
      <p:sp>
        <p:nvSpPr>
          <p:cNvPr id="10" name="KPILabel 10"/>
          <p:cNvSpPr/>
          <p:nvPr/>
        </p:nvSpPr>
        <p:spPr>
          <a:xfrm>
            <a:off x="3486836"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Customer retention rate</a:t>
            </a:r>
            <a:endParaRPr lang="en-US" sz="1050" dirty="0"/>
          </a:p>
        </p:txBody>
      </p:sp>
      <p:sp>
        <p:nvSpPr>
          <p:cNvPr id="11" name="KPISub 11"/>
          <p:cNvSpPr/>
          <p:nvPr/>
        </p:nvSpPr>
        <p:spPr>
          <a:xfrm>
            <a:off x="3486836"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788 of 800 customers ordered again</a:t>
            </a:r>
            <a:endParaRPr lang="en-US" sz="900" dirty="0"/>
          </a:p>
        </p:txBody>
      </p:sp>
      <p:sp>
        <p:nvSpPr>
          <p:cNvPr id="12" name="KPICard 12"/>
          <p:cNvSpPr/>
          <p:nvPr/>
        </p:nvSpPr>
        <p:spPr>
          <a:xfrm>
            <a:off x="6187288" y="1298448"/>
            <a:ext cx="2682164" cy="1051560"/>
          </a:xfrm>
          <a:prstGeom prst="roundRect">
            <a:avLst>
              <a:gd name="adj" fmla="val 6087"/>
            </a:avLst>
          </a:prstGeom>
          <a:solidFill>
            <a:srgbClr val="FFFFFF"/>
          </a:solidFill>
          <a:ln w="12700">
            <a:solidFill>
              <a:srgbClr val="E7D9C4"/>
            </a:solidFill>
            <a:prstDash val="solid"/>
          </a:ln>
        </p:spPr>
      </p:sp>
      <p:sp>
        <p:nvSpPr>
          <p:cNvPr id="13" name="KPIBig 13"/>
          <p:cNvSpPr/>
          <p:nvPr/>
        </p:nvSpPr>
        <p:spPr>
          <a:xfrm>
            <a:off x="6351880" y="1371600"/>
            <a:ext cx="2352980" cy="457200"/>
          </a:xfrm>
          <a:prstGeom prst="rect">
            <a:avLst/>
          </a:prstGeom>
          <a:noFill/>
          <a:ln/>
        </p:spPr>
        <p:txBody>
          <a:bodyPr wrap="square" lIns="0" tIns="0" rIns="0" bIns="0" rtlCol="0" anchor="ctr"/>
          <a:lstStyle/>
          <a:p>
            <a:pPr marL="0" indent="0" algn="l">
              <a:buNone/>
            </a:pPr>
            <a:r>
              <a:rPr lang="en-US" sz="2500" b="1" dirty="0">
                <a:solidFill>
                  <a:srgbClr val="2E2418"/>
                </a:solidFill>
                <a:latin typeface="Cambria" pitchFamily="34" charset="0"/>
                <a:ea typeface="Cambria" pitchFamily="34" charset="-122"/>
                <a:cs typeface="Cambria" pitchFamily="34" charset="-120"/>
              </a:rPr>
              <a:t>$25,043</a:t>
            </a:r>
            <a:endParaRPr lang="en-US" sz="2500" dirty="0"/>
          </a:p>
        </p:txBody>
      </p:sp>
      <p:sp>
        <p:nvSpPr>
          <p:cNvPr id="14" name="KPILabel 14"/>
          <p:cNvSpPr/>
          <p:nvPr/>
        </p:nvSpPr>
        <p:spPr>
          <a:xfrm>
            <a:off x="6351880"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Top customer revenue</a:t>
            </a:r>
            <a:endParaRPr lang="en-US" sz="1050" dirty="0"/>
          </a:p>
        </p:txBody>
      </p:sp>
      <p:sp>
        <p:nvSpPr>
          <p:cNvPr id="15" name="KPISub 15"/>
          <p:cNvSpPr/>
          <p:nvPr/>
        </p:nvSpPr>
        <p:spPr>
          <a:xfrm>
            <a:off x="6351880"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Sean Miller, highest lifetime spend</a:t>
            </a:r>
            <a:endParaRPr lang="en-US" sz="900" dirty="0"/>
          </a:p>
        </p:txBody>
      </p:sp>
      <p:sp>
        <p:nvSpPr>
          <p:cNvPr id="16" name="KPICard 16"/>
          <p:cNvSpPr/>
          <p:nvPr/>
        </p:nvSpPr>
        <p:spPr>
          <a:xfrm>
            <a:off x="9052332" y="1298448"/>
            <a:ext cx="2682164" cy="1051560"/>
          </a:xfrm>
          <a:prstGeom prst="roundRect">
            <a:avLst>
              <a:gd name="adj" fmla="val 6087"/>
            </a:avLst>
          </a:prstGeom>
          <a:solidFill>
            <a:srgbClr val="FFFFFF"/>
          </a:solidFill>
          <a:ln w="12700">
            <a:solidFill>
              <a:srgbClr val="E7D9C4"/>
            </a:solidFill>
            <a:prstDash val="solid"/>
          </a:ln>
        </p:spPr>
      </p:sp>
      <p:sp>
        <p:nvSpPr>
          <p:cNvPr id="17" name="KPIBig 17"/>
          <p:cNvSpPr/>
          <p:nvPr/>
        </p:nvSpPr>
        <p:spPr>
          <a:xfrm>
            <a:off x="9216924" y="1371600"/>
            <a:ext cx="2352980" cy="457200"/>
          </a:xfrm>
          <a:prstGeom prst="rect">
            <a:avLst/>
          </a:prstGeom>
          <a:noFill/>
          <a:ln/>
        </p:spPr>
        <p:txBody>
          <a:bodyPr wrap="square" lIns="0" tIns="0" rIns="0" bIns="0" rtlCol="0" anchor="ctr"/>
          <a:lstStyle/>
          <a:p>
            <a:pPr marL="0" indent="0" algn="l">
              <a:buNone/>
            </a:pPr>
            <a:r>
              <a:rPr lang="en-US" sz="2500" b="1" dirty="0">
                <a:solidFill>
                  <a:srgbClr val="2E2418"/>
                </a:solidFill>
                <a:latin typeface="Cambria" pitchFamily="34" charset="0"/>
                <a:ea typeface="Cambria" pitchFamily="34" charset="-122"/>
                <a:cs typeface="Cambria" pitchFamily="34" charset="-120"/>
              </a:rPr>
              <a:t>4</a:t>
            </a:r>
            <a:endParaRPr lang="en-US" sz="2500" dirty="0"/>
          </a:p>
        </p:txBody>
      </p:sp>
      <p:sp>
        <p:nvSpPr>
          <p:cNvPr id="18" name="KPILabel 18"/>
          <p:cNvSpPr/>
          <p:nvPr/>
        </p:nvSpPr>
        <p:spPr>
          <a:xfrm>
            <a:off x="9216924" y="1828800"/>
            <a:ext cx="2352980" cy="256032"/>
          </a:xfrm>
          <a:prstGeom prst="rect">
            <a:avLst/>
          </a:prstGeom>
          <a:noFill/>
          <a:ln/>
        </p:spPr>
        <p:txBody>
          <a:bodyPr wrap="square" lIns="0" tIns="0" rIns="0" bIns="0" rtlCol="0" anchor="ctr"/>
          <a:lstStyle/>
          <a:p>
            <a:pPr marL="0" indent="0" algn="l">
              <a:buNone/>
            </a:pPr>
            <a:r>
              <a:rPr lang="en-US" sz="1050" b="1" dirty="0">
                <a:solidFill>
                  <a:srgbClr val="2E2418"/>
                </a:solidFill>
                <a:latin typeface="Calibri" pitchFamily="34" charset="0"/>
                <a:ea typeface="Calibri" pitchFamily="34" charset="-122"/>
                <a:cs typeface="Calibri" pitchFamily="34" charset="-120"/>
              </a:rPr>
              <a:t>Join types practised</a:t>
            </a:r>
            <a:endParaRPr lang="en-US" sz="1050" dirty="0"/>
          </a:p>
        </p:txBody>
      </p:sp>
      <p:sp>
        <p:nvSpPr>
          <p:cNvPr id="19" name="KPISub 19"/>
          <p:cNvSpPr/>
          <p:nvPr/>
        </p:nvSpPr>
        <p:spPr>
          <a:xfrm>
            <a:off x="9216924" y="2057400"/>
            <a:ext cx="2352980" cy="237744"/>
          </a:xfrm>
          <a:prstGeom prst="rect">
            <a:avLst/>
          </a:prstGeom>
          <a:noFill/>
          <a:ln/>
        </p:spPr>
        <p:txBody>
          <a:bodyPr wrap="square" lIns="0" tIns="0" rIns="0" bIns="0" rtlCol="0" anchor="ctr"/>
          <a:lstStyle/>
          <a:p>
            <a:pPr marL="0" indent="0" algn="l">
              <a:buNone/>
            </a:pPr>
            <a:r>
              <a:rPr lang="en-US" sz="900" dirty="0">
                <a:solidFill>
                  <a:srgbClr val="8A6F52"/>
                </a:solidFill>
                <a:latin typeface="Calibri" pitchFamily="34" charset="0"/>
                <a:ea typeface="Calibri" pitchFamily="34" charset="-122"/>
                <a:cs typeface="Calibri" pitchFamily="34" charset="-120"/>
              </a:rPr>
              <a:t>Inner, left, right, and full outer</a:t>
            </a:r>
            <a:endParaRPr lang="en-US" sz="900" dirty="0"/>
          </a:p>
        </p:txBody>
      </p:sp>
      <p:sp>
        <p:nvSpPr>
          <p:cNvPr id="20" name="ImgCard 20"/>
          <p:cNvSpPr/>
          <p:nvPr/>
        </p:nvSpPr>
        <p:spPr>
          <a:xfrm>
            <a:off x="457200" y="2606040"/>
            <a:ext cx="5349240" cy="3090672"/>
          </a:xfrm>
          <a:prstGeom prst="roundRect">
            <a:avLst>
              <a:gd name="adj" fmla="val 2182"/>
            </a:avLst>
          </a:prstGeom>
          <a:solidFill>
            <a:srgbClr val="FFFFFF"/>
          </a:solidFill>
          <a:ln w="12700">
            <a:solidFill>
              <a:srgbClr val="E7D9C4"/>
            </a:solidFill>
            <a:prstDash val="solid"/>
          </a:ln>
        </p:spPr>
      </p:sp>
      <p:pic>
        <p:nvPicPr>
          <p:cNvPr id="21" name="Chart 21"/>
          <p:cNvPicPr>
            <a:picLocks noChangeAspect="1"/>
          </p:cNvPicPr>
          <p:nvPr/>
        </p:nvPicPr>
        <p:blipFill>
          <a:blip r:embed="rId2"/>
          <a:stretch>
            <a:fillRect/>
          </a:stretch>
        </p:blipFill>
        <p:spPr>
          <a:xfrm>
            <a:off x="512064" y="2660904"/>
            <a:ext cx="5239512" cy="2580918"/>
          </a:xfrm>
          <a:prstGeom prst="rect">
            <a:avLst/>
          </a:prstGeom>
        </p:spPr>
      </p:pic>
      <p:sp>
        <p:nvSpPr>
          <p:cNvPr id="22" name="Caption 22"/>
          <p:cNvSpPr/>
          <p:nvPr/>
        </p:nvSpPr>
        <p:spPr>
          <a:xfrm>
            <a:off x="457200" y="5751576"/>
            <a:ext cx="5349240"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Figure. Top 10 customers ranked by total revenue.</a:t>
            </a:r>
            <a:endParaRPr lang="en-US" sz="950" dirty="0"/>
          </a:p>
        </p:txBody>
      </p:sp>
      <p:sp>
        <p:nvSpPr>
          <p:cNvPr id="23" name="DarkBox 23"/>
          <p:cNvSpPr/>
          <p:nvPr/>
        </p:nvSpPr>
        <p:spPr>
          <a:xfrm>
            <a:off x="6080760" y="2606040"/>
            <a:ext cx="5653735" cy="3383280"/>
          </a:xfrm>
          <a:prstGeom prst="roundRect">
            <a:avLst>
              <a:gd name="adj" fmla="val 1892"/>
            </a:avLst>
          </a:prstGeom>
          <a:solidFill>
            <a:srgbClr val="2E2418"/>
          </a:solidFill>
          <a:ln/>
        </p:spPr>
      </p:sp>
      <p:sp>
        <p:nvSpPr>
          <p:cNvPr id="24" name="DarkBoxLabel 24"/>
          <p:cNvSpPr/>
          <p:nvPr/>
        </p:nvSpPr>
        <p:spPr>
          <a:xfrm>
            <a:off x="6355080" y="2807208"/>
            <a:ext cx="510509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QUERY HIGHLIGHTS</a:t>
            </a:r>
            <a:endParaRPr lang="en-US" sz="1050" dirty="0"/>
          </a:p>
        </p:txBody>
      </p:sp>
      <p:sp>
        <p:nvSpPr>
          <p:cNvPr id="25" name="DarkBoxLine 25"/>
          <p:cNvSpPr/>
          <p:nvPr/>
        </p:nvSpPr>
        <p:spPr>
          <a:xfrm>
            <a:off x="6355080" y="3081020"/>
            <a:ext cx="5105095" cy="475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Monthly sales trends aggregated by order month using GROUP BY and SQLite date functions.</a:t>
            </a:r>
            <a:endParaRPr lang="en-US" sz="1050" dirty="0"/>
          </a:p>
        </p:txBody>
      </p:sp>
      <p:sp>
        <p:nvSpPr>
          <p:cNvPr id="26" name="DarkBoxLine 26"/>
          <p:cNvSpPr/>
          <p:nvPr/>
        </p:nvSpPr>
        <p:spPr>
          <a:xfrm>
            <a:off x="6355080" y="3586020"/>
            <a:ext cx="5105095" cy="475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Customer retention measured with a CTE that counts repeat purchasers against total customers.</a:t>
            </a:r>
            <a:endParaRPr lang="en-US" sz="1050" dirty="0"/>
          </a:p>
        </p:txBody>
      </p:sp>
      <p:sp>
        <p:nvSpPr>
          <p:cNvPr id="27" name="DarkBoxLine 27"/>
          <p:cNvSpPr/>
          <p:nvPr/>
        </p:nvSpPr>
        <p:spPr>
          <a:xfrm>
            <a:off x="6355080" y="4091020"/>
            <a:ext cx="5105095" cy="475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Seven day moving average and running total computed with window functions over ordered sales.</a:t>
            </a:r>
            <a:endParaRPr lang="en-US" sz="1050" dirty="0"/>
          </a:p>
        </p:txBody>
      </p:sp>
      <p:sp>
        <p:nvSpPr>
          <p:cNvPr id="28" name="DarkBoxLine 28"/>
          <p:cNvSpPr/>
          <p:nvPr/>
        </p:nvSpPr>
        <p:spPr>
          <a:xfrm>
            <a:off x="6355080" y="4596020"/>
            <a:ext cx="5105095" cy="475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Query performance checked with EXPLAIN QUERY PLAN, then sped up with an index on Customer Name.</a:t>
            </a:r>
            <a:endParaRPr lang="en-US" sz="1050" dirty="0"/>
          </a:p>
        </p:txBody>
      </p:sp>
      <p:sp>
        <p:nvSpPr>
          <p:cNvPr id="29" name="Line 29"/>
          <p:cNvSpPr/>
          <p:nvPr/>
        </p:nvSpPr>
        <p:spPr>
          <a:xfrm>
            <a:off x="6355080" y="5121020"/>
            <a:ext cx="5105095" cy="0"/>
          </a:xfrm>
          <a:prstGeom prst="line">
            <a:avLst/>
          </a:prstGeom>
          <a:noFill/>
          <a:ln w="12700">
            <a:solidFill>
              <a:srgbClr val="463A2E"/>
            </a:solidFill>
            <a:prstDash val="solid"/>
          </a:ln>
        </p:spPr>
      </p:sp>
      <p:sp>
        <p:nvSpPr>
          <p:cNvPr id="30" name="DarkBoxNote 30"/>
          <p:cNvSpPr/>
          <p:nvPr/>
        </p:nvSpPr>
        <p:spPr>
          <a:xfrm>
            <a:off x="6355080" y="5221020"/>
            <a:ext cx="5105095" cy="460000"/>
          </a:xfrm>
          <a:prstGeom prst="rect">
            <a:avLst/>
          </a:prstGeom>
          <a:noFill/>
          <a:ln/>
        </p:spPr>
        <p:txBody>
          <a:bodyPr wrap="square" lIns="0" tIns="0" rIns="0" bIns="0" rtlCol="0" anchor="ctr"/>
          <a:lstStyle/>
          <a:p>
            <a:pPr marL="0" indent="0" algn="l">
              <a:lnSpc>
                <a:spcPct val="112000"/>
              </a:lnSpc>
              <a:buNone/>
            </a:pPr>
            <a:r>
              <a:rPr lang="en-US" sz="1000" i="1" dirty="0">
                <a:solidFill>
                  <a:srgbClr val="BBA07B"/>
                </a:solidFill>
                <a:latin typeface="Calibri" pitchFamily="34" charset="0"/>
                <a:ea typeface="Calibri" pitchFamily="34" charset="-122"/>
                <a:cs typeface="Calibri" pitchFamily="34" charset="-120"/>
              </a:rPr>
              <a:t>Python connects to the database through SQLAlchemy, so every query result loads directly into a pandas DataFrame for further analysis.</a:t>
            </a:r>
            <a:endParaRPr lang="en-US" sz="1000" dirty="0"/>
          </a:p>
        </p:txBody>
      </p:sp>
      <p:sp>
        <p:nvSpPr>
          <p:cNvPr id="31" name="Footer 31"/>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32" name="PageNum 32"/>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AF6F0"/>
        </a:solidFill>
        <a:effectLst/>
      </p:bgPr>
    </p:bg>
    <p:spTree>
      <p:nvGrpSpPr>
        <p:cNvPr id="1" name=""/>
        <p:cNvGrpSpPr/>
        <p:nvPr/>
      </p:nvGrpSpPr>
      <p:grpSpPr>
        <a:xfrm>
          <a:off x="0" y="0"/>
          <a:ext cx="0" cy="0"/>
          <a:chOff x="0" y="0"/>
          <a:chExt cx="0" cy="0"/>
        </a:xfrm>
      </p:grpSpPr>
      <p:sp>
        <p:nvSpPr>
          <p:cNvPr id="2" name="Eyebrow 2"/>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3: DATA VISUALISATION</a:t>
            </a:r>
            <a:endParaRPr lang="en-US" sz="1150" dirty="0"/>
          </a:p>
        </p:txBody>
      </p:sp>
      <p:sp>
        <p:nvSpPr>
          <p:cNvPr id="3" name="Title 3"/>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Thirteen Plus Python Visualisations</a:t>
            </a:r>
            <a:endParaRPr lang="en-US" sz="3000" dirty="0"/>
          </a:p>
        </p:txBody>
      </p:sp>
      <p:sp>
        <p:nvSpPr>
          <p:cNvPr id="4" name="ImgCard 4"/>
          <p:cNvSpPr/>
          <p:nvPr/>
        </p:nvSpPr>
        <p:spPr>
          <a:xfrm>
            <a:off x="457200" y="1298448"/>
            <a:ext cx="3606698" cy="2932256"/>
          </a:xfrm>
          <a:prstGeom prst="roundRect">
            <a:avLst>
              <a:gd name="adj" fmla="val 2182"/>
            </a:avLst>
          </a:prstGeom>
          <a:solidFill>
            <a:srgbClr val="FFFFFF"/>
          </a:solidFill>
          <a:ln w="12700">
            <a:solidFill>
              <a:srgbClr val="E7D9C4"/>
            </a:solidFill>
            <a:prstDash val="solid"/>
          </a:ln>
        </p:spPr>
      </p:sp>
      <p:pic>
        <p:nvPicPr>
          <p:cNvPr id="5" name="Chart 5"/>
          <p:cNvPicPr>
            <a:picLocks noChangeAspect="1"/>
          </p:cNvPicPr>
          <p:nvPr/>
        </p:nvPicPr>
        <p:blipFill>
          <a:blip r:embed="rId2"/>
          <a:stretch>
            <a:fillRect/>
          </a:stretch>
        </p:blipFill>
        <p:spPr>
          <a:xfrm>
            <a:off x="512064" y="1353312"/>
            <a:ext cx="3496970" cy="2098182"/>
          </a:xfrm>
          <a:prstGeom prst="rect">
            <a:avLst/>
          </a:prstGeom>
        </p:spPr>
      </p:pic>
      <p:sp>
        <p:nvSpPr>
          <p:cNvPr id="6" name="Caption 6"/>
          <p:cNvSpPr/>
          <p:nvPr/>
        </p:nvSpPr>
        <p:spPr>
          <a:xfrm>
            <a:off x="457200" y="4285568"/>
            <a:ext cx="3606698"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Boxen plot: Sales distribution by category, showing spread and extremes.</a:t>
            </a:r>
            <a:endParaRPr lang="en-US" sz="950" dirty="0"/>
          </a:p>
        </p:txBody>
      </p:sp>
      <p:sp>
        <p:nvSpPr>
          <p:cNvPr id="7" name="ImgCard 7"/>
          <p:cNvSpPr/>
          <p:nvPr/>
        </p:nvSpPr>
        <p:spPr>
          <a:xfrm>
            <a:off x="4292498" y="1298448"/>
            <a:ext cx="3606698" cy="2932256"/>
          </a:xfrm>
          <a:prstGeom prst="roundRect">
            <a:avLst>
              <a:gd name="adj" fmla="val 2182"/>
            </a:avLst>
          </a:prstGeom>
          <a:solidFill>
            <a:srgbClr val="FFFFFF"/>
          </a:solidFill>
          <a:ln w="12700">
            <a:solidFill>
              <a:srgbClr val="E7D9C4"/>
            </a:solidFill>
            <a:prstDash val="solid"/>
          </a:ln>
        </p:spPr>
      </p:sp>
      <p:pic>
        <p:nvPicPr>
          <p:cNvPr id="8" name="Chart 8"/>
          <p:cNvPicPr>
            <a:picLocks noChangeAspect="1"/>
          </p:cNvPicPr>
          <p:nvPr/>
        </p:nvPicPr>
        <p:blipFill>
          <a:blip r:embed="rId3"/>
          <a:stretch>
            <a:fillRect/>
          </a:stretch>
        </p:blipFill>
        <p:spPr>
          <a:xfrm>
            <a:off x="4482772" y="1353312"/>
            <a:ext cx="3226149" cy="2822528"/>
          </a:xfrm>
          <a:prstGeom prst="rect">
            <a:avLst/>
          </a:prstGeom>
        </p:spPr>
      </p:pic>
      <p:sp>
        <p:nvSpPr>
          <p:cNvPr id="9" name="Caption 9"/>
          <p:cNvSpPr/>
          <p:nvPr/>
        </p:nvSpPr>
        <p:spPr>
          <a:xfrm>
            <a:off x="4292498" y="4285568"/>
            <a:ext cx="3606698"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Pairplot: Sales, Quantity, Discount, and Profit, coloured by category.</a:t>
            </a:r>
            <a:endParaRPr lang="en-US" sz="950" dirty="0"/>
          </a:p>
        </p:txBody>
      </p:sp>
      <p:sp>
        <p:nvSpPr>
          <p:cNvPr id="10" name="ImgCard 10"/>
          <p:cNvSpPr/>
          <p:nvPr/>
        </p:nvSpPr>
        <p:spPr>
          <a:xfrm>
            <a:off x="8127796" y="1298448"/>
            <a:ext cx="3606698" cy="2932256"/>
          </a:xfrm>
          <a:prstGeom prst="roundRect">
            <a:avLst>
              <a:gd name="adj" fmla="val 2182"/>
            </a:avLst>
          </a:prstGeom>
          <a:solidFill>
            <a:srgbClr val="FFFFFF"/>
          </a:solidFill>
          <a:ln w="12700">
            <a:solidFill>
              <a:srgbClr val="E7D9C4"/>
            </a:solidFill>
            <a:prstDash val="solid"/>
          </a:ln>
        </p:spPr>
      </p:sp>
      <p:pic>
        <p:nvPicPr>
          <p:cNvPr id="11" name="Chart 11"/>
          <p:cNvPicPr>
            <a:picLocks noChangeAspect="1"/>
          </p:cNvPicPr>
          <p:nvPr/>
        </p:nvPicPr>
        <p:blipFill>
          <a:blip r:embed="rId4"/>
          <a:stretch>
            <a:fillRect/>
          </a:stretch>
        </p:blipFill>
        <p:spPr>
          <a:xfrm>
            <a:off x="8182660" y="1353312"/>
            <a:ext cx="3496970" cy="2485684"/>
          </a:xfrm>
          <a:prstGeom prst="rect">
            <a:avLst/>
          </a:prstGeom>
        </p:spPr>
      </p:pic>
      <p:sp>
        <p:nvSpPr>
          <p:cNvPr id="12" name="Caption 12"/>
          <p:cNvSpPr/>
          <p:nvPr/>
        </p:nvSpPr>
        <p:spPr>
          <a:xfrm>
            <a:off x="8127796" y="4285568"/>
            <a:ext cx="3606698"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FacetGrid: monthly sales trend split by region.</a:t>
            </a:r>
            <a:endParaRPr lang="en-US" sz="950" dirty="0"/>
          </a:p>
        </p:txBody>
      </p:sp>
      <p:sp>
        <p:nvSpPr>
          <p:cNvPr id="13" name="Bullet 13"/>
          <p:cNvSpPr/>
          <p:nvPr/>
        </p:nvSpPr>
        <p:spPr>
          <a:xfrm>
            <a:off x="457200" y="4695880"/>
            <a:ext cx="82296" cy="82296"/>
          </a:xfrm>
          <a:prstGeom prst="rect">
            <a:avLst/>
          </a:prstGeom>
          <a:solidFill>
            <a:srgbClr val="C5A15F"/>
          </a:solidFill>
          <a:ln/>
        </p:spPr>
      </p:sp>
      <p:sp>
        <p:nvSpPr>
          <p:cNvPr id="14" name="BulletLine 14"/>
          <p:cNvSpPr/>
          <p:nvPr/>
        </p:nvSpPr>
        <p:spPr>
          <a:xfrm>
            <a:off x="676656" y="4668448"/>
            <a:ext cx="11057839" cy="292608"/>
          </a:xfrm>
          <a:prstGeom prst="rect">
            <a:avLst/>
          </a:prstGeom>
          <a:noFill/>
          <a:ln/>
        </p:spPr>
        <p:txBody>
          <a:bodyPr wrap="square" lIns="0" tIns="0" rIns="0" bIns="0" rtlCol="0" anchor="ctr"/>
          <a:lstStyle/>
          <a:p>
            <a:pPr marL="0" indent="0" algn="l">
              <a:lnSpc>
                <a:spcPct val="108000"/>
              </a:lnSpc>
              <a:buNone/>
            </a:pPr>
            <a:r>
              <a:rPr lang="en-US" sz="1080" dirty="0">
                <a:solidFill>
                  <a:srgbClr val="2E2418"/>
                </a:solidFill>
                <a:latin typeface="Calibri" pitchFamily="34" charset="0"/>
                <a:ea typeface="Calibri" pitchFamily="34" charset="-122"/>
                <a:cs typeface="Calibri" pitchFamily="34" charset="-120"/>
              </a:rPr>
              <a:t>Matplotlib covers line, bar, histogram, and scatter plots for core distributions and trends.</a:t>
            </a:r>
            <a:endParaRPr lang="en-US" sz="1080" dirty="0"/>
          </a:p>
        </p:txBody>
      </p:sp>
      <p:sp>
        <p:nvSpPr>
          <p:cNvPr id="15" name="Bullet 15"/>
          <p:cNvSpPr/>
          <p:nvPr/>
        </p:nvSpPr>
        <p:spPr>
          <a:xfrm>
            <a:off x="457200" y="5006776"/>
            <a:ext cx="82296" cy="82296"/>
          </a:xfrm>
          <a:prstGeom prst="rect">
            <a:avLst/>
          </a:prstGeom>
          <a:solidFill>
            <a:srgbClr val="C5A15F"/>
          </a:solidFill>
          <a:ln/>
        </p:spPr>
      </p:sp>
      <p:sp>
        <p:nvSpPr>
          <p:cNvPr id="16" name="BulletLine 16"/>
          <p:cNvSpPr/>
          <p:nvPr/>
        </p:nvSpPr>
        <p:spPr>
          <a:xfrm>
            <a:off x="676656" y="4979344"/>
            <a:ext cx="11057839" cy="292608"/>
          </a:xfrm>
          <a:prstGeom prst="rect">
            <a:avLst/>
          </a:prstGeom>
          <a:noFill/>
          <a:ln/>
        </p:spPr>
        <p:txBody>
          <a:bodyPr wrap="square" lIns="0" tIns="0" rIns="0" bIns="0" rtlCol="0" anchor="ctr"/>
          <a:lstStyle/>
          <a:p>
            <a:pPr marL="0" indent="0" algn="l">
              <a:lnSpc>
                <a:spcPct val="108000"/>
              </a:lnSpc>
              <a:buNone/>
            </a:pPr>
            <a:r>
              <a:rPr lang="en-US" sz="1080" dirty="0">
                <a:solidFill>
                  <a:srgbClr val="2E2418"/>
                </a:solidFill>
                <a:latin typeface="Calibri" pitchFamily="34" charset="0"/>
                <a:ea typeface="Calibri" pitchFamily="34" charset="-122"/>
                <a:cs typeface="Calibri" pitchFamily="34" charset="-120"/>
              </a:rPr>
              <a:t>Seaborn adds heatmaps, pairplots, boxen plots, and FacetGrids for deeper multi-variable analysis.</a:t>
            </a:r>
            <a:endParaRPr lang="en-US" sz="1080" dirty="0"/>
          </a:p>
        </p:txBody>
      </p:sp>
      <p:sp>
        <p:nvSpPr>
          <p:cNvPr id="17" name="Bullet 17"/>
          <p:cNvSpPr/>
          <p:nvPr/>
        </p:nvSpPr>
        <p:spPr>
          <a:xfrm>
            <a:off x="457200" y="5317672"/>
            <a:ext cx="82296" cy="82296"/>
          </a:xfrm>
          <a:prstGeom prst="rect">
            <a:avLst/>
          </a:prstGeom>
          <a:solidFill>
            <a:srgbClr val="C5A15F"/>
          </a:solidFill>
          <a:ln/>
        </p:spPr>
      </p:sp>
      <p:sp>
        <p:nvSpPr>
          <p:cNvPr id="18" name="BulletLine 18"/>
          <p:cNvSpPr/>
          <p:nvPr/>
        </p:nvSpPr>
        <p:spPr>
          <a:xfrm>
            <a:off x="676656" y="5290240"/>
            <a:ext cx="11057839" cy="292608"/>
          </a:xfrm>
          <a:prstGeom prst="rect">
            <a:avLst/>
          </a:prstGeom>
          <a:noFill/>
          <a:ln/>
        </p:spPr>
        <p:txBody>
          <a:bodyPr wrap="square" lIns="0" tIns="0" rIns="0" bIns="0" rtlCol="0" anchor="ctr"/>
          <a:lstStyle/>
          <a:p>
            <a:pPr marL="0" indent="0" algn="l">
              <a:lnSpc>
                <a:spcPct val="108000"/>
              </a:lnSpc>
              <a:buNone/>
            </a:pPr>
            <a:r>
              <a:rPr lang="en-US" sz="1080" dirty="0">
                <a:solidFill>
                  <a:srgbClr val="2E2418"/>
                </a:solidFill>
                <a:latin typeface="Calibri" pitchFamily="34" charset="0"/>
                <a:ea typeface="Calibri" pitchFamily="34" charset="-122"/>
                <a:cs typeface="Calibri" pitchFamily="34" charset="-120"/>
              </a:rPr>
              <a:t>Plotly delivers interactive charts, dropdown filters, and range sliders, exported as shareable HTML.</a:t>
            </a:r>
            <a:endParaRPr lang="en-US" sz="1080" dirty="0"/>
          </a:p>
        </p:txBody>
      </p:sp>
      <p:sp>
        <p:nvSpPr>
          <p:cNvPr id="19" name="Footer 19"/>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0" name="PageNum 20"/>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3: VISUALISATION AND DASHBOARDING</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Executive Dashboard</a:t>
            </a:r>
            <a:endParaRPr lang="en-US" sz="3000" dirty="0"/>
          </a:p>
        </p:txBody>
      </p:sp>
      <p:sp>
        <p:nvSpPr>
          <p:cNvPr id="4" name="Shape 2"/>
          <p:cNvSpPr/>
          <p:nvPr/>
        </p:nvSpPr>
        <p:spPr>
          <a:xfrm>
            <a:off x="457200" y="1298448"/>
            <a:ext cx="5501488" cy="3005872"/>
          </a:xfrm>
          <a:prstGeom prst="roundRect">
            <a:avLst>
              <a:gd name="adj" fmla="val 1825"/>
            </a:avLst>
          </a:prstGeom>
          <a:solidFill>
            <a:srgbClr val="FFFFFF"/>
          </a:solidFill>
          <a:ln w="12700">
            <a:solidFill>
              <a:srgbClr val="E7D9C4"/>
            </a:solidFill>
            <a:prstDash val="solid"/>
          </a:ln>
        </p:spPr>
      </p:sp>
      <p:pic>
        <p:nvPicPr>
          <p:cNvPr id="5" name="Image 0" descr="/home/claude/assets/existing_media/image-5-1.png"/>
          <p:cNvPicPr>
            <a:picLocks noChangeAspect="1"/>
          </p:cNvPicPr>
          <p:nvPr/>
        </p:nvPicPr>
        <p:blipFill>
          <a:blip r:embed="rId3"/>
          <a:stretch>
            <a:fillRect/>
          </a:stretch>
        </p:blipFill>
        <p:spPr>
          <a:xfrm>
            <a:off x="502920" y="1344168"/>
            <a:ext cx="5410048" cy="2932720"/>
          </a:xfrm>
          <a:prstGeom prst="rect">
            <a:avLst/>
          </a:prstGeom>
        </p:spPr>
      </p:pic>
      <p:sp>
        <p:nvSpPr>
          <p:cNvPr id="6" name="Text 3"/>
          <p:cNvSpPr/>
          <p:nvPr/>
        </p:nvSpPr>
        <p:spPr>
          <a:xfrm>
            <a:off x="457200" y="4350040"/>
            <a:ext cx="5501488" cy="384048"/>
          </a:xfrm>
          <a:prstGeom prst="rect">
            <a:avLst/>
          </a:prstGeom>
          <a:noFill/>
          <a:ln/>
        </p:spPr>
        <p:txBody>
          <a:bodyPr wrap="square" lIns="0" tIns="0" rIns="0" bIns="0" rtlCol="0" anchor="ctr"/>
          <a:lstStyle/>
          <a:p>
            <a:pPr marL="0" indent="0" algn="ctr">
              <a:lnSpc>
                <a:spcPct val="110000"/>
              </a:lnSpc>
              <a:buNone/>
            </a:pPr>
            <a:r>
              <a:rPr lang="en-US" sz="950" i="1" dirty="0">
                <a:solidFill>
                  <a:srgbClr val="8C7A67"/>
                </a:solidFill>
                <a:latin typeface="Calibri" pitchFamily="34" charset="0"/>
                <a:ea typeface="Calibri" pitchFamily="34" charset="-122"/>
                <a:cs typeface="Calibri" pitchFamily="34" charset="-120"/>
              </a:rPr>
              <a:t>Overview: KPI cards, monthly sales trend, category and region breakdown, top 10 products.</a:t>
            </a:r>
            <a:endParaRPr lang="en-US" sz="950" dirty="0"/>
          </a:p>
        </p:txBody>
      </p:sp>
      <p:sp>
        <p:nvSpPr>
          <p:cNvPr id="7" name="Shape 4"/>
          <p:cNvSpPr/>
          <p:nvPr/>
        </p:nvSpPr>
        <p:spPr>
          <a:xfrm>
            <a:off x="6233008" y="1298448"/>
            <a:ext cx="5501488" cy="3005872"/>
          </a:xfrm>
          <a:prstGeom prst="roundRect">
            <a:avLst>
              <a:gd name="adj" fmla="val 1825"/>
            </a:avLst>
          </a:prstGeom>
          <a:solidFill>
            <a:srgbClr val="FFFFFF"/>
          </a:solidFill>
          <a:ln w="12700">
            <a:solidFill>
              <a:srgbClr val="E7D9C4"/>
            </a:solidFill>
            <a:prstDash val="solid"/>
          </a:ln>
        </p:spPr>
      </p:sp>
      <p:pic>
        <p:nvPicPr>
          <p:cNvPr id="8" name="Image 1" descr="/home/claude/assets/existing_media/image-6-1.png"/>
          <p:cNvPicPr>
            <a:picLocks noChangeAspect="1"/>
          </p:cNvPicPr>
          <p:nvPr/>
        </p:nvPicPr>
        <p:blipFill>
          <a:blip r:embed="rId4"/>
          <a:stretch>
            <a:fillRect/>
          </a:stretch>
        </p:blipFill>
        <p:spPr>
          <a:xfrm>
            <a:off x="6278728" y="1344168"/>
            <a:ext cx="5410048" cy="2914432"/>
          </a:xfrm>
          <a:prstGeom prst="rect">
            <a:avLst/>
          </a:prstGeom>
        </p:spPr>
      </p:pic>
      <p:sp>
        <p:nvSpPr>
          <p:cNvPr id="9" name="Text 5"/>
          <p:cNvSpPr/>
          <p:nvPr/>
        </p:nvSpPr>
        <p:spPr>
          <a:xfrm>
            <a:off x="6233008" y="4350040"/>
            <a:ext cx="5501488" cy="384048"/>
          </a:xfrm>
          <a:prstGeom prst="rect">
            <a:avLst/>
          </a:prstGeom>
          <a:noFill/>
          <a:ln/>
        </p:spPr>
        <p:txBody>
          <a:bodyPr wrap="square" lIns="0" tIns="0" rIns="0" bIns="0" rtlCol="0" anchor="ctr"/>
          <a:lstStyle/>
          <a:p>
            <a:pPr marL="0" indent="0" algn="ctr">
              <a:lnSpc>
                <a:spcPct val="110000"/>
              </a:lnSpc>
              <a:buNone/>
            </a:pPr>
            <a:r>
              <a:rPr lang="en-US" sz="950" i="1" dirty="0">
                <a:solidFill>
                  <a:srgbClr val="8C7A67"/>
                </a:solidFill>
                <a:latin typeface="Calibri" pitchFamily="34" charset="0"/>
                <a:ea typeface="Calibri" pitchFamily="34" charset="-122"/>
                <a:cs typeface="Calibri" pitchFamily="34" charset="-120"/>
              </a:rPr>
              <a:t>Category Details: product level detail reached by drilling through from the category donut chart.</a:t>
            </a:r>
            <a:endParaRPr lang="en-US" sz="950" dirty="0"/>
          </a:p>
        </p:txBody>
      </p:sp>
      <p:sp>
        <p:nvSpPr>
          <p:cNvPr id="10" name="Shape 6"/>
          <p:cNvSpPr/>
          <p:nvPr/>
        </p:nvSpPr>
        <p:spPr>
          <a:xfrm>
            <a:off x="457200" y="4889536"/>
            <a:ext cx="100584" cy="100584"/>
          </a:xfrm>
          <a:prstGeom prst="rect">
            <a:avLst/>
          </a:prstGeom>
          <a:solidFill>
            <a:srgbClr val="C5A15F"/>
          </a:solidFill>
          <a:ln/>
        </p:spPr>
      </p:sp>
      <p:sp>
        <p:nvSpPr>
          <p:cNvPr id="11" name="Text 7"/>
          <p:cNvSpPr/>
          <p:nvPr/>
        </p:nvSpPr>
        <p:spPr>
          <a:xfrm>
            <a:off x="640080" y="4807240"/>
            <a:ext cx="2464994" cy="256032"/>
          </a:xfrm>
          <a:prstGeom prst="rect">
            <a:avLst/>
          </a:prstGeom>
          <a:noFill/>
          <a:ln/>
        </p:spPr>
        <p:txBody>
          <a:bodyPr wrap="square" lIns="0" tIns="0" rIns="0" bIns="0" rtlCol="0" anchor="ctr"/>
          <a:lstStyle/>
          <a:p>
            <a:pPr marL="0" indent="0">
              <a:buNone/>
            </a:pPr>
            <a:r>
              <a:rPr lang="en-US" sz="1150" b="1" dirty="0">
                <a:solidFill>
                  <a:srgbClr val="2E2418"/>
                </a:solidFill>
                <a:latin typeface="Calibri" pitchFamily="34" charset="0"/>
                <a:ea typeface="Calibri" pitchFamily="34" charset="-122"/>
                <a:cs typeface="Calibri" pitchFamily="34" charset="-120"/>
              </a:rPr>
              <a:t>4 KPI cards</a:t>
            </a:r>
            <a:endParaRPr lang="en-US" sz="1150" dirty="0"/>
          </a:p>
        </p:txBody>
      </p:sp>
      <p:sp>
        <p:nvSpPr>
          <p:cNvPr id="12" name="Text 8"/>
          <p:cNvSpPr/>
          <p:nvPr/>
        </p:nvSpPr>
        <p:spPr>
          <a:xfrm>
            <a:off x="457200" y="5090704"/>
            <a:ext cx="2647874" cy="640080"/>
          </a:xfrm>
          <a:prstGeom prst="rect">
            <a:avLst/>
          </a:prstGeom>
          <a:noFill/>
          <a:ln/>
        </p:spPr>
        <p:txBody>
          <a:bodyPr wrap="square" lIns="0" tIns="0" rIns="0" bIns="0" rtlCol="0" anchor="ctr"/>
          <a:lstStyle/>
          <a:p>
            <a:pPr marL="0" indent="0">
              <a:lnSpc>
                <a:spcPct val="112000"/>
              </a:lnSpc>
              <a:buNone/>
            </a:pPr>
            <a:r>
              <a:rPr lang="en-US" sz="980" dirty="0">
                <a:solidFill>
                  <a:srgbClr val="8C7A67"/>
                </a:solidFill>
                <a:latin typeface="Calibri" pitchFamily="34" charset="0"/>
                <a:ea typeface="Calibri" pitchFamily="34" charset="-122"/>
                <a:cs typeface="Calibri" pitchFamily="34" charset="-120"/>
              </a:rPr>
              <a:t>Revenue, orders, customers, profit at a glance.</a:t>
            </a:r>
            <a:endParaRPr lang="en-US" sz="980" dirty="0"/>
          </a:p>
        </p:txBody>
      </p:sp>
      <p:sp>
        <p:nvSpPr>
          <p:cNvPr id="13" name="Shape 9"/>
          <p:cNvSpPr/>
          <p:nvPr/>
        </p:nvSpPr>
        <p:spPr>
          <a:xfrm>
            <a:off x="3333674" y="4889536"/>
            <a:ext cx="100584" cy="100584"/>
          </a:xfrm>
          <a:prstGeom prst="rect">
            <a:avLst/>
          </a:prstGeom>
          <a:solidFill>
            <a:srgbClr val="C5A15F"/>
          </a:solidFill>
          <a:ln/>
        </p:spPr>
      </p:sp>
      <p:sp>
        <p:nvSpPr>
          <p:cNvPr id="14" name="Text 10"/>
          <p:cNvSpPr/>
          <p:nvPr/>
        </p:nvSpPr>
        <p:spPr>
          <a:xfrm>
            <a:off x="3516554" y="4807240"/>
            <a:ext cx="2464994" cy="256032"/>
          </a:xfrm>
          <a:prstGeom prst="rect">
            <a:avLst/>
          </a:prstGeom>
          <a:noFill/>
          <a:ln/>
        </p:spPr>
        <p:txBody>
          <a:bodyPr wrap="square" lIns="0" tIns="0" rIns="0" bIns="0" rtlCol="0" anchor="ctr"/>
          <a:lstStyle/>
          <a:p>
            <a:pPr marL="0" indent="0">
              <a:buNone/>
            </a:pPr>
            <a:r>
              <a:rPr lang="en-US" sz="1150" b="1" dirty="0">
                <a:solidFill>
                  <a:srgbClr val="2E2418"/>
                </a:solidFill>
                <a:latin typeface="Calibri" pitchFamily="34" charset="0"/>
                <a:ea typeface="Calibri" pitchFamily="34" charset="-122"/>
                <a:cs typeface="Calibri" pitchFamily="34" charset="-120"/>
              </a:rPr>
              <a:t>Slicers &amp; drill-through</a:t>
            </a:r>
            <a:endParaRPr lang="en-US" sz="1150" dirty="0"/>
          </a:p>
        </p:txBody>
      </p:sp>
      <p:sp>
        <p:nvSpPr>
          <p:cNvPr id="15" name="Text 11"/>
          <p:cNvSpPr/>
          <p:nvPr/>
        </p:nvSpPr>
        <p:spPr>
          <a:xfrm>
            <a:off x="3333674" y="5090704"/>
            <a:ext cx="2647874" cy="640080"/>
          </a:xfrm>
          <a:prstGeom prst="rect">
            <a:avLst/>
          </a:prstGeom>
          <a:noFill/>
          <a:ln/>
        </p:spPr>
        <p:txBody>
          <a:bodyPr wrap="square" lIns="0" tIns="0" rIns="0" bIns="0" rtlCol="0" anchor="ctr"/>
          <a:lstStyle/>
          <a:p>
            <a:pPr marL="0" indent="0">
              <a:lnSpc>
                <a:spcPct val="112000"/>
              </a:lnSpc>
              <a:buNone/>
            </a:pPr>
            <a:r>
              <a:rPr lang="en-US" sz="980" dirty="0">
                <a:solidFill>
                  <a:srgbClr val="8C7A67"/>
                </a:solidFill>
                <a:latin typeface="Calibri" pitchFamily="34" charset="0"/>
                <a:ea typeface="Calibri" pitchFamily="34" charset="-122"/>
                <a:cs typeface="Calibri" pitchFamily="34" charset="-120"/>
              </a:rPr>
              <a:t>Category, Region, Order Date; right-click any slice to drill in.</a:t>
            </a:r>
            <a:endParaRPr lang="en-US" sz="980" dirty="0"/>
          </a:p>
        </p:txBody>
      </p:sp>
      <p:sp>
        <p:nvSpPr>
          <p:cNvPr id="16" name="Shape 12"/>
          <p:cNvSpPr/>
          <p:nvPr/>
        </p:nvSpPr>
        <p:spPr>
          <a:xfrm>
            <a:off x="6210148" y="4889536"/>
            <a:ext cx="100584" cy="100584"/>
          </a:xfrm>
          <a:prstGeom prst="rect">
            <a:avLst/>
          </a:prstGeom>
          <a:solidFill>
            <a:srgbClr val="C5A15F"/>
          </a:solidFill>
          <a:ln/>
        </p:spPr>
      </p:sp>
      <p:sp>
        <p:nvSpPr>
          <p:cNvPr id="17" name="Text 13"/>
          <p:cNvSpPr/>
          <p:nvPr/>
        </p:nvSpPr>
        <p:spPr>
          <a:xfrm>
            <a:off x="6393028" y="4807240"/>
            <a:ext cx="2464994" cy="256032"/>
          </a:xfrm>
          <a:prstGeom prst="rect">
            <a:avLst/>
          </a:prstGeom>
          <a:noFill/>
          <a:ln/>
        </p:spPr>
        <p:txBody>
          <a:bodyPr wrap="square" lIns="0" tIns="0" rIns="0" bIns="0" rtlCol="0" anchor="ctr"/>
          <a:lstStyle/>
          <a:p>
            <a:pPr marL="0" indent="0">
              <a:buNone/>
            </a:pPr>
            <a:r>
              <a:rPr lang="en-US" sz="1150" b="1" dirty="0">
                <a:solidFill>
                  <a:srgbClr val="2E2418"/>
                </a:solidFill>
                <a:latin typeface="Calibri" pitchFamily="34" charset="0"/>
                <a:ea typeface="Calibri" pitchFamily="34" charset="-122"/>
                <a:cs typeface="Calibri" pitchFamily="34" charset="-120"/>
              </a:rPr>
              <a:t>Reset Filters bookmark</a:t>
            </a:r>
            <a:endParaRPr lang="en-US" sz="1150" dirty="0"/>
          </a:p>
        </p:txBody>
      </p:sp>
      <p:sp>
        <p:nvSpPr>
          <p:cNvPr id="18" name="Text 14"/>
          <p:cNvSpPr/>
          <p:nvPr/>
        </p:nvSpPr>
        <p:spPr>
          <a:xfrm>
            <a:off x="6210148" y="5090704"/>
            <a:ext cx="2647874" cy="640080"/>
          </a:xfrm>
          <a:prstGeom prst="rect">
            <a:avLst/>
          </a:prstGeom>
          <a:noFill/>
          <a:ln/>
        </p:spPr>
        <p:txBody>
          <a:bodyPr wrap="square" lIns="0" tIns="0" rIns="0" bIns="0" rtlCol="0" anchor="ctr"/>
          <a:lstStyle/>
          <a:p>
            <a:pPr marL="0" indent="0">
              <a:lnSpc>
                <a:spcPct val="112000"/>
              </a:lnSpc>
              <a:buNone/>
            </a:pPr>
            <a:r>
              <a:rPr lang="en-US" sz="980" dirty="0">
                <a:solidFill>
                  <a:srgbClr val="8C7A67"/>
                </a:solidFill>
                <a:latin typeface="Calibri" pitchFamily="34" charset="0"/>
                <a:ea typeface="Calibri" pitchFamily="34" charset="-122"/>
                <a:cs typeface="Calibri" pitchFamily="34" charset="-120"/>
              </a:rPr>
              <a:t>One click restores every slicer and filter to default.</a:t>
            </a:r>
            <a:endParaRPr lang="en-US" sz="980" dirty="0"/>
          </a:p>
        </p:txBody>
      </p:sp>
      <p:sp>
        <p:nvSpPr>
          <p:cNvPr id="19" name="Shape 15"/>
          <p:cNvSpPr/>
          <p:nvPr/>
        </p:nvSpPr>
        <p:spPr>
          <a:xfrm>
            <a:off x="9086621" y="4889536"/>
            <a:ext cx="100584" cy="100584"/>
          </a:xfrm>
          <a:prstGeom prst="rect">
            <a:avLst/>
          </a:prstGeom>
          <a:solidFill>
            <a:srgbClr val="C5A15F"/>
          </a:solidFill>
          <a:ln/>
        </p:spPr>
      </p:sp>
      <p:sp>
        <p:nvSpPr>
          <p:cNvPr id="20" name="Text 16"/>
          <p:cNvSpPr/>
          <p:nvPr/>
        </p:nvSpPr>
        <p:spPr>
          <a:xfrm>
            <a:off x="9269501" y="4807240"/>
            <a:ext cx="2464994" cy="256032"/>
          </a:xfrm>
          <a:prstGeom prst="rect">
            <a:avLst/>
          </a:prstGeom>
          <a:noFill/>
          <a:ln/>
        </p:spPr>
        <p:txBody>
          <a:bodyPr wrap="square" lIns="0" tIns="0" rIns="0" bIns="0" rtlCol="0" anchor="ctr"/>
          <a:lstStyle/>
          <a:p>
            <a:pPr marL="0" indent="0">
              <a:buNone/>
            </a:pPr>
            <a:r>
              <a:rPr lang="en-US" sz="1150" b="1" dirty="0">
                <a:solidFill>
                  <a:srgbClr val="2E2418"/>
                </a:solidFill>
                <a:latin typeface="Calibri" pitchFamily="34" charset="0"/>
                <a:ea typeface="Calibri" pitchFamily="34" charset="-122"/>
                <a:cs typeface="Calibri" pitchFamily="34" charset="-120"/>
              </a:rPr>
              <a:t>Page navigation</a:t>
            </a:r>
            <a:endParaRPr lang="en-US" sz="1150" dirty="0"/>
          </a:p>
        </p:txBody>
      </p:sp>
      <p:sp>
        <p:nvSpPr>
          <p:cNvPr id="21" name="Text 17"/>
          <p:cNvSpPr/>
          <p:nvPr/>
        </p:nvSpPr>
        <p:spPr>
          <a:xfrm>
            <a:off x="9086621" y="5090704"/>
            <a:ext cx="2647874" cy="640080"/>
          </a:xfrm>
          <a:prstGeom prst="rect">
            <a:avLst/>
          </a:prstGeom>
          <a:noFill/>
          <a:ln/>
        </p:spPr>
        <p:txBody>
          <a:bodyPr wrap="square" lIns="0" tIns="0" rIns="0" bIns="0" rtlCol="0" anchor="ctr"/>
          <a:lstStyle/>
          <a:p>
            <a:pPr marL="0" indent="0">
              <a:lnSpc>
                <a:spcPct val="112000"/>
              </a:lnSpc>
              <a:buNone/>
            </a:pPr>
            <a:r>
              <a:rPr lang="en-US" sz="980" dirty="0">
                <a:solidFill>
                  <a:srgbClr val="8C7A67"/>
                </a:solidFill>
                <a:latin typeface="Calibri" pitchFamily="34" charset="0"/>
                <a:ea typeface="Calibri" pitchFamily="34" charset="-122"/>
                <a:cs typeface="Calibri" pitchFamily="34" charset="-120"/>
              </a:rPr>
              <a:t>Buttons move between Dashboard and Category Details.</a:t>
            </a:r>
            <a:endParaRPr lang="en-US" sz="980" dirty="0"/>
          </a:p>
        </p:txBody>
      </p:sp>
      <p:sp>
        <p:nvSpPr>
          <p:cNvPr id="22" name="Text 18"/>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3" name="Text 19"/>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AF6F0"/>
        </a:solidFill>
        <a:effectLst/>
      </p:bgPr>
    </p:bg>
    <p:spTree>
      <p:nvGrpSpPr>
        <p:cNvPr id="1" name=""/>
        <p:cNvGrpSpPr/>
        <p:nvPr/>
      </p:nvGrpSpPr>
      <p:grpSpPr>
        <a:xfrm>
          <a:off x="0" y="0"/>
          <a:ext cx="0" cy="0"/>
          <a:chOff x="0" y="0"/>
          <a:chExt cx="0" cy="0"/>
        </a:xfrm>
      </p:grpSpPr>
      <p:sp>
        <p:nvSpPr>
          <p:cNvPr id="2" name="Eyebrow 2"/>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4: ADVANCED ANALYTICS</a:t>
            </a:r>
            <a:endParaRPr lang="en-US" sz="1150" dirty="0"/>
          </a:p>
        </p:txBody>
      </p:sp>
      <p:sp>
        <p:nvSpPr>
          <p:cNvPr id="3" name="Title 3"/>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Descriptive Statistics and Correlation</a:t>
            </a:r>
            <a:endParaRPr lang="en-US" sz="3000" dirty="0"/>
          </a:p>
        </p:txBody>
      </p:sp>
      <p:sp>
        <p:nvSpPr>
          <p:cNvPr id="4" name="ImgCard 4"/>
          <p:cNvSpPr/>
          <p:nvPr/>
        </p:nvSpPr>
        <p:spPr>
          <a:xfrm>
            <a:off x="457200" y="2606040"/>
            <a:ext cx="5349240" cy="3090672"/>
          </a:xfrm>
          <a:prstGeom prst="roundRect">
            <a:avLst>
              <a:gd name="adj" fmla="val 2182"/>
            </a:avLst>
          </a:prstGeom>
          <a:solidFill>
            <a:srgbClr val="FFFFFF"/>
          </a:solidFill>
          <a:ln w="12700">
            <a:solidFill>
              <a:srgbClr val="E7D9C4"/>
            </a:solidFill>
            <a:prstDash val="solid"/>
          </a:ln>
        </p:spPr>
      </p:sp>
      <p:pic>
        <p:nvPicPr>
          <p:cNvPr id="5" name="Chart 5"/>
          <p:cNvPicPr>
            <a:picLocks noChangeAspect="1"/>
          </p:cNvPicPr>
          <p:nvPr/>
        </p:nvPicPr>
        <p:blipFill>
          <a:blip r:embed="rId2"/>
          <a:stretch>
            <a:fillRect/>
          </a:stretch>
        </p:blipFill>
        <p:spPr>
          <a:xfrm>
            <a:off x="992271" y="2660904"/>
            <a:ext cx="4279097" cy="2980944"/>
          </a:xfrm>
          <a:prstGeom prst="rect">
            <a:avLst/>
          </a:prstGeom>
        </p:spPr>
      </p:pic>
      <p:sp>
        <p:nvSpPr>
          <p:cNvPr id="6" name="Caption 6"/>
          <p:cNvSpPr/>
          <p:nvPr/>
        </p:nvSpPr>
        <p:spPr>
          <a:xfrm>
            <a:off x="457200" y="5751576"/>
            <a:ext cx="5349240" cy="237744"/>
          </a:xfrm>
          <a:prstGeom prst="rect">
            <a:avLst/>
          </a:prstGeom>
          <a:noFill/>
          <a:ln/>
        </p:spPr>
        <p:txBody>
          <a:bodyPr wrap="square" lIns="0" tIns="0" rIns="0" bIns="0" rtlCol="0" anchor="ctr"/>
          <a:lstStyle/>
          <a:p>
            <a:pPr marL="0" indent="0" algn="ctr">
              <a:buNone/>
            </a:pPr>
            <a:r>
              <a:rPr lang="en-US" sz="950" i="1" dirty="0">
                <a:solidFill>
                  <a:srgbClr val="8C7A67"/>
                </a:solidFill>
                <a:latin typeface="Calibri" pitchFamily="34" charset="0"/>
                <a:ea typeface="Calibri" pitchFamily="34" charset="-122"/>
                <a:cs typeface="Calibri" pitchFamily="34" charset="-120"/>
              </a:rPr>
              <a:t>Figure. Correlation matrix across Sales, Quantity, Discount, and Profit.</a:t>
            </a:r>
            <a:endParaRPr lang="en-US" sz="950" dirty="0"/>
          </a:p>
        </p:txBody>
      </p:sp>
      <p:sp>
        <p:nvSpPr>
          <p:cNvPr id="7" name="DarkBox 7"/>
          <p:cNvSpPr/>
          <p:nvPr/>
        </p:nvSpPr>
        <p:spPr>
          <a:xfrm>
            <a:off x="6080760" y="2606040"/>
            <a:ext cx="5653735" cy="3383280"/>
          </a:xfrm>
          <a:prstGeom prst="roundRect">
            <a:avLst>
              <a:gd name="adj" fmla="val 1892"/>
            </a:avLst>
          </a:prstGeom>
          <a:solidFill>
            <a:srgbClr val="2E2418"/>
          </a:solidFill>
          <a:ln/>
        </p:spPr>
      </p:sp>
      <p:sp>
        <p:nvSpPr>
          <p:cNvPr id="8" name="DarkBoxLabel 8"/>
          <p:cNvSpPr/>
          <p:nvPr/>
        </p:nvSpPr>
        <p:spPr>
          <a:xfrm>
            <a:off x="6355080" y="2807208"/>
            <a:ext cx="510509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DESCRIPTIVE STATISTICS</a:t>
            </a:r>
            <a:endParaRPr lang="en-US" sz="1050" dirty="0"/>
          </a:p>
        </p:txBody>
      </p:sp>
      <p:sp>
        <p:nvSpPr>
          <p:cNvPr id="9" name="DarkBoxLine 9"/>
          <p:cNvSpPr/>
          <p:nvPr/>
        </p:nvSpPr>
        <p:spPr>
          <a:xfrm>
            <a:off x="6355080" y="3081020"/>
            <a:ext cx="5105095" cy="50292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Sales is heavily right skewed (skewness 12.98); most orders are small, while a handful of large orders pull the average well above the median.</a:t>
            </a:r>
            <a:endParaRPr lang="en-US" sz="1050" dirty="0"/>
          </a:p>
        </p:txBody>
      </p:sp>
      <p:sp>
        <p:nvSpPr>
          <p:cNvPr id="10" name="DarkBoxLine 10"/>
          <p:cNvSpPr/>
          <p:nvPr/>
        </p:nvSpPr>
        <p:spPr>
          <a:xfrm>
            <a:off x="6355080" y="3613940"/>
            <a:ext cx="5105095" cy="38000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Profit shows extreme kurtosis (401.69): a sharp peak near zero with occasional large gains or losses.</a:t>
            </a:r>
            <a:endParaRPr lang="en-US" sz="1050" dirty="0"/>
          </a:p>
        </p:txBody>
      </p:sp>
      <p:sp>
        <p:nvSpPr>
          <p:cNvPr id="11" name="DarkBoxLine 11"/>
          <p:cNvSpPr/>
          <p:nvPr/>
        </p:nvSpPr>
        <p:spPr>
          <a:xfrm>
            <a:off x="6355080" y="4023940"/>
            <a:ext cx="5105095" cy="640080"/>
          </a:xfrm>
          <a:prstGeom prst="rect">
            <a:avLst/>
          </a:prstGeom>
          <a:noFill/>
          <a:ln/>
        </p:spPr>
        <p:txBody>
          <a:bodyPr wrap="square" lIns="0" tIns="0" rIns="0" bIns="0" rtlCol="0" anchor="ctr"/>
          <a:lstStyle/>
          <a:p>
            <a:pPr marL="0" indent="0" algn="l">
              <a:lnSpc>
                <a:spcPct val="110000"/>
              </a:lnSpc>
              <a:buNone/>
            </a:pPr>
            <a:r>
              <a:rPr lang="en-US" sz="1050" dirty="0">
                <a:solidFill>
                  <a:srgbClr val="F1E8DB"/>
                </a:solidFill>
                <a:latin typeface="Calibri" pitchFamily="34" charset="0"/>
                <a:ea typeface="Calibri" pitchFamily="34" charset="-122"/>
                <a:cs typeface="Calibri" pitchFamily="34" charset="-120"/>
              </a:rPr>
              <a:t>Mean profit per order is $28.67, with a 95% confidence interval of $24.16 to $33.19, so the business is reliably profitable on average despite loss making orders.</a:t>
            </a:r>
            <a:endParaRPr lang="en-US" sz="1050" dirty="0"/>
          </a:p>
        </p:txBody>
      </p:sp>
      <p:sp>
        <p:nvSpPr>
          <p:cNvPr id="12" name="Line 12"/>
          <p:cNvSpPr/>
          <p:nvPr/>
        </p:nvSpPr>
        <p:spPr>
          <a:xfrm>
            <a:off x="6355080" y="4709020"/>
            <a:ext cx="5105095" cy="0"/>
          </a:xfrm>
          <a:prstGeom prst="line">
            <a:avLst/>
          </a:prstGeom>
          <a:noFill/>
          <a:ln w="12700">
            <a:solidFill>
              <a:srgbClr val="463A2E"/>
            </a:solidFill>
            <a:prstDash val="solid"/>
          </a:ln>
        </p:spPr>
      </p:sp>
      <p:sp>
        <p:nvSpPr>
          <p:cNvPr id="13" name="DarkBoxLabel 13"/>
          <p:cNvSpPr/>
          <p:nvPr/>
        </p:nvSpPr>
        <p:spPr>
          <a:xfrm>
            <a:off x="6355080" y="4804020"/>
            <a:ext cx="5105095" cy="228600"/>
          </a:xfrm>
          <a:prstGeom prst="rect">
            <a:avLst/>
          </a:prstGeom>
          <a:noFill/>
          <a:ln/>
        </p:spPr>
        <p:txBody>
          <a:bodyPr wrap="square" lIns="0" tIns="0" rIns="0" bIns="0" rtlCol="0" anchor="ctr"/>
          <a:lstStyle/>
          <a:p>
            <a:pPr marL="0" indent="0" algn="l">
              <a:buNone/>
            </a:pPr>
            <a:r>
              <a:rPr lang="en-US" sz="1050" b="1" kern="0" spc="100" dirty="0">
                <a:solidFill>
                  <a:srgbClr val="C5A15F"/>
                </a:solidFill>
                <a:latin typeface="Calibri" pitchFamily="34" charset="0"/>
                <a:ea typeface="Calibri" pitchFamily="34" charset="-122"/>
                <a:cs typeface="Calibri" pitchFamily="34" charset="-120"/>
              </a:rPr>
              <a:t>CORRELATION VS CAUSATION</a:t>
            </a:r>
            <a:endParaRPr lang="en-US" sz="1050" dirty="0"/>
          </a:p>
        </p:txBody>
      </p:sp>
      <p:sp>
        <p:nvSpPr>
          <p:cNvPr id="14" name="DarkBoxNote 14"/>
          <p:cNvSpPr/>
          <p:nvPr/>
        </p:nvSpPr>
        <p:spPr>
          <a:xfrm>
            <a:off x="6355080" y="5074020"/>
            <a:ext cx="5105095" cy="640080"/>
          </a:xfrm>
          <a:prstGeom prst="rect">
            <a:avLst/>
          </a:prstGeom>
          <a:noFill/>
          <a:ln/>
        </p:spPr>
        <p:txBody>
          <a:bodyPr wrap="square" lIns="0" tIns="0" rIns="0" bIns="0" rtlCol="0" anchor="ctr"/>
          <a:lstStyle/>
          <a:p>
            <a:pPr marL="0" indent="0" algn="l">
              <a:lnSpc>
                <a:spcPct val="112000"/>
              </a:lnSpc>
              <a:buNone/>
            </a:pPr>
            <a:r>
              <a:rPr lang="en-US" sz="1000" i="1" dirty="0">
                <a:solidFill>
                  <a:srgbClr val="BBA07B"/>
                </a:solidFill>
                <a:latin typeface="Calibri" pitchFamily="34" charset="0"/>
                <a:ea typeface="Calibri" pitchFamily="34" charset="-122"/>
                <a:cs typeface="Calibri" pitchFamily="34" charset="-120"/>
              </a:rPr>
              <a:t>Discount and Profit correlate at r = -0.22 (p &lt; 0.0001), a real but moderate relationship. This does not prove discounting causes losses; product category and seasonality are likely confounders behind the pattern.</a:t>
            </a:r>
            <a:endParaRPr lang="en-US" sz="1000" dirty="0"/>
          </a:p>
        </p:txBody>
      </p:sp>
      <p:sp>
        <p:nvSpPr>
          <p:cNvPr id="15" name="Footer 15"/>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16" name="PageNum 16"/>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TASK 4: ADVANCED ANALYTICS</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Statistical and ML Results</a:t>
            </a:r>
            <a:endParaRPr lang="en-US" sz="3000" dirty="0"/>
          </a:p>
        </p:txBody>
      </p:sp>
      <p:sp>
        <p:nvSpPr>
          <p:cNvPr id="4" name="Shape 2"/>
          <p:cNvSpPr/>
          <p:nvPr/>
        </p:nvSpPr>
        <p:spPr>
          <a:xfrm>
            <a:off x="457200" y="1298448"/>
            <a:ext cx="2682164" cy="1051560"/>
          </a:xfrm>
          <a:prstGeom prst="roundRect">
            <a:avLst>
              <a:gd name="adj" fmla="val 6087"/>
            </a:avLst>
          </a:prstGeom>
          <a:solidFill>
            <a:srgbClr val="FFFFFF"/>
          </a:solidFill>
          <a:ln w="12700">
            <a:solidFill>
              <a:srgbClr val="E7D9C4"/>
            </a:solidFill>
            <a:prstDash val="solid"/>
          </a:ln>
        </p:spPr>
      </p:sp>
      <p:sp>
        <p:nvSpPr>
          <p:cNvPr id="5" name="Text 3"/>
          <p:cNvSpPr/>
          <p:nvPr/>
        </p:nvSpPr>
        <p:spPr>
          <a:xfrm>
            <a:off x="621792" y="1371600"/>
            <a:ext cx="2352980" cy="457200"/>
          </a:xfrm>
          <a:prstGeom prst="rect">
            <a:avLst/>
          </a:prstGeom>
          <a:noFill/>
          <a:ln/>
        </p:spPr>
        <p:txBody>
          <a:bodyPr wrap="square" lIns="0" tIns="0" rIns="0" bIns="0" rtlCol="0" anchor="ctr"/>
          <a:lstStyle/>
          <a:p>
            <a:pPr marL="0" indent="0">
              <a:buNone/>
            </a:pPr>
            <a:r>
              <a:rPr lang="en-US" sz="2500" b="1" dirty="0">
                <a:solidFill>
                  <a:srgbClr val="2E2418"/>
                </a:solidFill>
                <a:latin typeface="Cambria" pitchFamily="34" charset="0"/>
                <a:ea typeface="Cambria" pitchFamily="34" charset="-122"/>
                <a:cs typeface="Cambria" pitchFamily="34" charset="-120"/>
              </a:rPr>
              <a:t>73.9%</a:t>
            </a:r>
            <a:endParaRPr lang="en-US" sz="2500" dirty="0"/>
          </a:p>
        </p:txBody>
      </p:sp>
      <p:sp>
        <p:nvSpPr>
          <p:cNvPr id="6" name="Text 4"/>
          <p:cNvSpPr/>
          <p:nvPr/>
        </p:nvSpPr>
        <p:spPr>
          <a:xfrm>
            <a:off x="621792" y="1828800"/>
            <a:ext cx="2352980" cy="256032"/>
          </a:xfrm>
          <a:prstGeom prst="rect">
            <a:avLst/>
          </a:prstGeom>
          <a:noFill/>
          <a:ln/>
        </p:spPr>
        <p:txBody>
          <a:bodyPr wrap="square" lIns="0" tIns="0" rIns="0" bIns="0" rtlCol="0" anchor="ctr"/>
          <a:lstStyle/>
          <a:p>
            <a:pPr marL="0" indent="0">
              <a:buNone/>
            </a:pPr>
            <a:r>
              <a:rPr lang="en-US" sz="1050" b="1" dirty="0">
                <a:solidFill>
                  <a:srgbClr val="2E2418"/>
                </a:solidFill>
                <a:latin typeface="Calibri" pitchFamily="34" charset="0"/>
                <a:ea typeface="Calibri" pitchFamily="34" charset="-122"/>
                <a:cs typeface="Calibri" pitchFamily="34" charset="-120"/>
              </a:rPr>
              <a:t>Churn model accuracy</a:t>
            </a:r>
            <a:endParaRPr lang="en-US" sz="1050" dirty="0"/>
          </a:p>
        </p:txBody>
      </p:sp>
      <p:sp>
        <p:nvSpPr>
          <p:cNvPr id="7" name="Text 5"/>
          <p:cNvSpPr/>
          <p:nvPr/>
        </p:nvSpPr>
        <p:spPr>
          <a:xfrm>
            <a:off x="621792" y="2057400"/>
            <a:ext cx="2352980" cy="237744"/>
          </a:xfrm>
          <a:prstGeom prst="rect">
            <a:avLst/>
          </a:prstGeom>
          <a:noFill/>
          <a:ln/>
        </p:spPr>
        <p:txBody>
          <a:bodyPr wrap="square" lIns="0" tIns="0" rIns="0" bIns="0" rtlCol="0" anchor="ctr"/>
          <a:lstStyle/>
          <a:p>
            <a:pPr marL="0" indent="0">
              <a:buNone/>
            </a:pPr>
            <a:r>
              <a:rPr lang="en-US" sz="900" dirty="0">
                <a:solidFill>
                  <a:srgbClr val="8A6F52"/>
                </a:solidFill>
                <a:latin typeface="Calibri" pitchFamily="34" charset="0"/>
                <a:ea typeface="Calibri" pitchFamily="34" charset="-122"/>
                <a:cs typeface="Calibri" pitchFamily="34" charset="-120"/>
              </a:rPr>
              <a:t>Decision Tree</a:t>
            </a:r>
            <a:endParaRPr lang="en-US" sz="900" dirty="0"/>
          </a:p>
        </p:txBody>
      </p:sp>
      <p:sp>
        <p:nvSpPr>
          <p:cNvPr id="8" name="Shape 6"/>
          <p:cNvSpPr/>
          <p:nvPr/>
        </p:nvSpPr>
        <p:spPr>
          <a:xfrm>
            <a:off x="3322244" y="1298448"/>
            <a:ext cx="2682164" cy="1051560"/>
          </a:xfrm>
          <a:prstGeom prst="roundRect">
            <a:avLst>
              <a:gd name="adj" fmla="val 6087"/>
            </a:avLst>
          </a:prstGeom>
          <a:solidFill>
            <a:srgbClr val="FFFFFF"/>
          </a:solidFill>
          <a:ln w="12700">
            <a:solidFill>
              <a:srgbClr val="E7D9C4"/>
            </a:solidFill>
            <a:prstDash val="solid"/>
          </a:ln>
        </p:spPr>
      </p:sp>
      <p:sp>
        <p:nvSpPr>
          <p:cNvPr id="9" name="Text 7"/>
          <p:cNvSpPr/>
          <p:nvPr/>
        </p:nvSpPr>
        <p:spPr>
          <a:xfrm>
            <a:off x="3486836" y="1371600"/>
            <a:ext cx="2352980" cy="457200"/>
          </a:xfrm>
          <a:prstGeom prst="rect">
            <a:avLst/>
          </a:prstGeom>
          <a:noFill/>
          <a:ln/>
        </p:spPr>
        <p:txBody>
          <a:bodyPr wrap="square" lIns="0" tIns="0" rIns="0" bIns="0" rtlCol="0" anchor="ctr"/>
          <a:lstStyle/>
          <a:p>
            <a:pPr marL="0" indent="0">
              <a:buNone/>
            </a:pPr>
            <a:r>
              <a:rPr lang="en-US" sz="2500" b="1" dirty="0">
                <a:solidFill>
                  <a:srgbClr val="2E2418"/>
                </a:solidFill>
                <a:latin typeface="Cambria" pitchFamily="34" charset="0"/>
                <a:ea typeface="Cambria" pitchFamily="34" charset="-122"/>
                <a:cs typeface="Cambria" pitchFamily="34" charset="-120"/>
              </a:rPr>
              <a:t>18.20%</a:t>
            </a:r>
            <a:endParaRPr lang="en-US" sz="2500" dirty="0"/>
          </a:p>
        </p:txBody>
      </p:sp>
      <p:sp>
        <p:nvSpPr>
          <p:cNvPr id="10" name="Text 8"/>
          <p:cNvSpPr/>
          <p:nvPr/>
        </p:nvSpPr>
        <p:spPr>
          <a:xfrm>
            <a:off x="3486836" y="1828800"/>
            <a:ext cx="2352980" cy="256032"/>
          </a:xfrm>
          <a:prstGeom prst="rect">
            <a:avLst/>
          </a:prstGeom>
          <a:noFill/>
          <a:ln/>
        </p:spPr>
        <p:txBody>
          <a:bodyPr wrap="square" lIns="0" tIns="0" rIns="0" bIns="0" rtlCol="0" anchor="ctr"/>
          <a:lstStyle/>
          <a:p>
            <a:pPr marL="0" indent="0">
              <a:buNone/>
            </a:pPr>
            <a:r>
              <a:rPr lang="en-US" sz="1050" b="1" dirty="0">
                <a:solidFill>
                  <a:srgbClr val="2E2418"/>
                </a:solidFill>
                <a:latin typeface="Calibri" pitchFamily="34" charset="0"/>
                <a:ea typeface="Calibri" pitchFamily="34" charset="-122"/>
                <a:cs typeface="Calibri" pitchFamily="34" charset="-120"/>
              </a:rPr>
              <a:t>SARIMA forecast MAPE</a:t>
            </a:r>
            <a:endParaRPr lang="en-US" sz="1050" dirty="0"/>
          </a:p>
        </p:txBody>
      </p:sp>
      <p:sp>
        <p:nvSpPr>
          <p:cNvPr id="11" name="Text 9"/>
          <p:cNvSpPr/>
          <p:nvPr/>
        </p:nvSpPr>
        <p:spPr>
          <a:xfrm>
            <a:off x="3486836" y="2057400"/>
            <a:ext cx="2352980" cy="237744"/>
          </a:xfrm>
          <a:prstGeom prst="rect">
            <a:avLst/>
          </a:prstGeom>
          <a:noFill/>
          <a:ln/>
        </p:spPr>
        <p:txBody>
          <a:bodyPr wrap="square" lIns="0" tIns="0" rIns="0" bIns="0" rtlCol="0" anchor="ctr"/>
          <a:lstStyle/>
          <a:p>
            <a:pPr marL="0" indent="0">
              <a:buNone/>
            </a:pPr>
            <a:r>
              <a:rPr lang="en-US" sz="900" dirty="0">
                <a:solidFill>
                  <a:srgbClr val="8A6F52"/>
                </a:solidFill>
                <a:latin typeface="Calibri" pitchFamily="34" charset="0"/>
                <a:ea typeface="Calibri" pitchFamily="34" charset="-122"/>
                <a:cs typeface="Calibri" pitchFamily="34" charset="-120"/>
              </a:rPr>
              <a:t>vs 28.39% for ARIMA</a:t>
            </a:r>
            <a:endParaRPr lang="en-US" sz="900" dirty="0"/>
          </a:p>
        </p:txBody>
      </p:sp>
      <p:sp>
        <p:nvSpPr>
          <p:cNvPr id="12" name="Shape 10"/>
          <p:cNvSpPr/>
          <p:nvPr/>
        </p:nvSpPr>
        <p:spPr>
          <a:xfrm>
            <a:off x="6187288" y="1298448"/>
            <a:ext cx="2682164" cy="1051560"/>
          </a:xfrm>
          <a:prstGeom prst="roundRect">
            <a:avLst>
              <a:gd name="adj" fmla="val 6087"/>
            </a:avLst>
          </a:prstGeom>
          <a:solidFill>
            <a:srgbClr val="FFFFFF"/>
          </a:solidFill>
          <a:ln w="12700">
            <a:solidFill>
              <a:srgbClr val="E7D9C4"/>
            </a:solidFill>
            <a:prstDash val="solid"/>
          </a:ln>
        </p:spPr>
      </p:sp>
      <p:sp>
        <p:nvSpPr>
          <p:cNvPr id="13" name="Text 11"/>
          <p:cNvSpPr/>
          <p:nvPr/>
        </p:nvSpPr>
        <p:spPr>
          <a:xfrm>
            <a:off x="6351880" y="1371600"/>
            <a:ext cx="2352980" cy="457200"/>
          </a:xfrm>
          <a:prstGeom prst="rect">
            <a:avLst/>
          </a:prstGeom>
          <a:noFill/>
          <a:ln/>
        </p:spPr>
        <p:txBody>
          <a:bodyPr wrap="square" lIns="0" tIns="0" rIns="0" bIns="0" rtlCol="0" anchor="ctr"/>
          <a:lstStyle/>
          <a:p>
            <a:pPr marL="0" indent="0">
              <a:buNone/>
            </a:pPr>
            <a:r>
              <a:rPr lang="en-US" sz="2500" b="1" dirty="0">
                <a:solidFill>
                  <a:srgbClr val="2E2418"/>
                </a:solidFill>
                <a:latin typeface="Cambria" pitchFamily="34" charset="0"/>
                <a:ea typeface="Cambria" pitchFamily="34" charset="-122"/>
                <a:cs typeface="Cambria" pitchFamily="34" charset="-120"/>
              </a:rPr>
              <a:t>5</a:t>
            </a:r>
            <a:endParaRPr lang="en-US" sz="2500" dirty="0"/>
          </a:p>
        </p:txBody>
      </p:sp>
      <p:sp>
        <p:nvSpPr>
          <p:cNvPr id="14" name="Text 12"/>
          <p:cNvSpPr/>
          <p:nvPr/>
        </p:nvSpPr>
        <p:spPr>
          <a:xfrm>
            <a:off x="6351880" y="1828800"/>
            <a:ext cx="2352980" cy="256032"/>
          </a:xfrm>
          <a:prstGeom prst="rect">
            <a:avLst/>
          </a:prstGeom>
          <a:noFill/>
          <a:ln/>
        </p:spPr>
        <p:txBody>
          <a:bodyPr wrap="square" lIns="0" tIns="0" rIns="0" bIns="0" rtlCol="0" anchor="ctr"/>
          <a:lstStyle/>
          <a:p>
            <a:pPr marL="0" indent="0">
              <a:buNone/>
            </a:pPr>
            <a:r>
              <a:rPr lang="en-US" sz="1050" b="1" dirty="0">
                <a:solidFill>
                  <a:srgbClr val="2E2418"/>
                </a:solidFill>
                <a:latin typeface="Calibri" pitchFamily="34" charset="0"/>
                <a:ea typeface="Calibri" pitchFamily="34" charset="-122"/>
                <a:cs typeface="Calibri" pitchFamily="34" charset="-120"/>
              </a:rPr>
              <a:t>Customer segments</a:t>
            </a:r>
            <a:endParaRPr lang="en-US" sz="1050" dirty="0"/>
          </a:p>
        </p:txBody>
      </p:sp>
      <p:sp>
        <p:nvSpPr>
          <p:cNvPr id="15" name="Text 13"/>
          <p:cNvSpPr/>
          <p:nvPr/>
        </p:nvSpPr>
        <p:spPr>
          <a:xfrm>
            <a:off x="6351880" y="2057400"/>
            <a:ext cx="2352980" cy="237744"/>
          </a:xfrm>
          <a:prstGeom prst="rect">
            <a:avLst/>
          </a:prstGeom>
          <a:noFill/>
          <a:ln/>
        </p:spPr>
        <p:txBody>
          <a:bodyPr wrap="square" lIns="0" tIns="0" rIns="0" bIns="0" rtlCol="0" anchor="ctr"/>
          <a:lstStyle/>
          <a:p>
            <a:pPr marL="0" indent="0">
              <a:buNone/>
            </a:pPr>
            <a:r>
              <a:rPr lang="en-US" sz="900" dirty="0">
                <a:solidFill>
                  <a:srgbClr val="8A6F52"/>
                </a:solidFill>
                <a:latin typeface="Calibri" pitchFamily="34" charset="0"/>
                <a:ea typeface="Calibri" pitchFamily="34" charset="-122"/>
                <a:cs typeface="Calibri" pitchFamily="34" charset="-120"/>
              </a:rPr>
              <a:t>via RFM and K-Means</a:t>
            </a:r>
            <a:endParaRPr lang="en-US" sz="900" dirty="0"/>
          </a:p>
        </p:txBody>
      </p:sp>
      <p:sp>
        <p:nvSpPr>
          <p:cNvPr id="16" name="Shape 14"/>
          <p:cNvSpPr/>
          <p:nvPr/>
        </p:nvSpPr>
        <p:spPr>
          <a:xfrm>
            <a:off x="9052331" y="1298448"/>
            <a:ext cx="2682164" cy="1051560"/>
          </a:xfrm>
          <a:prstGeom prst="roundRect">
            <a:avLst>
              <a:gd name="adj" fmla="val 6087"/>
            </a:avLst>
          </a:prstGeom>
          <a:solidFill>
            <a:srgbClr val="FFFFFF"/>
          </a:solidFill>
          <a:ln w="12700">
            <a:solidFill>
              <a:srgbClr val="E7D9C4"/>
            </a:solidFill>
            <a:prstDash val="solid"/>
          </a:ln>
        </p:spPr>
      </p:sp>
      <p:sp>
        <p:nvSpPr>
          <p:cNvPr id="17" name="Text 15"/>
          <p:cNvSpPr/>
          <p:nvPr/>
        </p:nvSpPr>
        <p:spPr>
          <a:xfrm>
            <a:off x="9216923" y="1371600"/>
            <a:ext cx="2352980" cy="457200"/>
          </a:xfrm>
          <a:prstGeom prst="rect">
            <a:avLst/>
          </a:prstGeom>
          <a:noFill/>
          <a:ln/>
        </p:spPr>
        <p:txBody>
          <a:bodyPr wrap="square" lIns="0" tIns="0" rIns="0" bIns="0" rtlCol="0" anchor="ctr"/>
          <a:lstStyle/>
          <a:p>
            <a:pPr marL="0" indent="0">
              <a:buNone/>
            </a:pPr>
            <a:r>
              <a:rPr lang="en-US" sz="2500" b="1" dirty="0">
                <a:solidFill>
                  <a:srgbClr val="2E2418"/>
                </a:solidFill>
                <a:latin typeface="Cambria" pitchFamily="34" charset="0"/>
                <a:ea typeface="Cambria" pitchFamily="34" charset="-122"/>
                <a:cs typeface="Cambria" pitchFamily="34" charset="-120"/>
              </a:rPr>
              <a:t>0.53</a:t>
            </a:r>
            <a:endParaRPr lang="en-US" sz="2500" dirty="0"/>
          </a:p>
        </p:txBody>
      </p:sp>
      <p:sp>
        <p:nvSpPr>
          <p:cNvPr id="18" name="Text 16"/>
          <p:cNvSpPr/>
          <p:nvPr/>
        </p:nvSpPr>
        <p:spPr>
          <a:xfrm>
            <a:off x="9216923" y="1828800"/>
            <a:ext cx="2352980" cy="256032"/>
          </a:xfrm>
          <a:prstGeom prst="rect">
            <a:avLst/>
          </a:prstGeom>
          <a:noFill/>
          <a:ln/>
        </p:spPr>
        <p:txBody>
          <a:bodyPr wrap="square" lIns="0" tIns="0" rIns="0" bIns="0" rtlCol="0" anchor="ctr"/>
          <a:lstStyle/>
          <a:p>
            <a:pPr marL="0" indent="0">
              <a:buNone/>
            </a:pPr>
            <a:r>
              <a:rPr lang="en-US" sz="1050" b="1" dirty="0">
                <a:solidFill>
                  <a:srgbClr val="2E2418"/>
                </a:solidFill>
                <a:latin typeface="Calibri" pitchFamily="34" charset="0"/>
                <a:ea typeface="Calibri" pitchFamily="34" charset="-122"/>
                <a:cs typeface="Calibri" pitchFamily="34" charset="-120"/>
              </a:rPr>
              <a:t>R-squared, sales regression</a:t>
            </a:r>
            <a:endParaRPr lang="en-US" sz="1050" dirty="0"/>
          </a:p>
        </p:txBody>
      </p:sp>
      <p:sp>
        <p:nvSpPr>
          <p:cNvPr id="19" name="Text 17"/>
          <p:cNvSpPr/>
          <p:nvPr/>
        </p:nvSpPr>
        <p:spPr>
          <a:xfrm>
            <a:off x="9216923" y="2057400"/>
            <a:ext cx="2352980" cy="237744"/>
          </a:xfrm>
          <a:prstGeom prst="rect">
            <a:avLst/>
          </a:prstGeom>
          <a:noFill/>
          <a:ln/>
        </p:spPr>
        <p:txBody>
          <a:bodyPr wrap="square" lIns="0" tIns="0" rIns="0" bIns="0" rtlCol="0" anchor="ctr"/>
          <a:lstStyle/>
          <a:p>
            <a:pPr marL="0" indent="0">
              <a:buNone/>
            </a:pPr>
            <a:r>
              <a:rPr lang="en-US" sz="900" dirty="0">
                <a:solidFill>
                  <a:srgbClr val="8A6F52"/>
                </a:solidFill>
                <a:latin typeface="Calibri" pitchFamily="34" charset="0"/>
                <a:ea typeface="Calibri" pitchFamily="34" charset="-122"/>
                <a:cs typeface="Calibri" pitchFamily="34" charset="-120"/>
              </a:rPr>
              <a:t>MAE $218.76</a:t>
            </a:r>
            <a:endParaRPr lang="en-US" sz="900" dirty="0"/>
          </a:p>
        </p:txBody>
      </p:sp>
      <p:sp>
        <p:nvSpPr>
          <p:cNvPr id="20" name="Shape 18"/>
          <p:cNvSpPr/>
          <p:nvPr/>
        </p:nvSpPr>
        <p:spPr>
          <a:xfrm>
            <a:off x="457200" y="2606040"/>
            <a:ext cx="5349240" cy="3383280"/>
          </a:xfrm>
          <a:prstGeom prst="roundRect">
            <a:avLst>
              <a:gd name="adj" fmla="val 1892"/>
            </a:avLst>
          </a:prstGeom>
          <a:solidFill>
            <a:srgbClr val="FFFFFF"/>
          </a:solidFill>
          <a:ln w="12700">
            <a:solidFill>
              <a:srgbClr val="E7D9C4"/>
            </a:solidFill>
            <a:prstDash val="solid"/>
          </a:ln>
        </p:spPr>
      </p:sp>
      <p:sp>
        <p:nvSpPr>
          <p:cNvPr id="21" name="Text 19"/>
          <p:cNvSpPr/>
          <p:nvPr/>
        </p:nvSpPr>
        <p:spPr>
          <a:xfrm>
            <a:off x="731520" y="2788920"/>
            <a:ext cx="4800600" cy="274320"/>
          </a:xfrm>
          <a:prstGeom prst="rect">
            <a:avLst/>
          </a:prstGeom>
          <a:noFill/>
          <a:ln/>
        </p:spPr>
        <p:txBody>
          <a:bodyPr wrap="square" lIns="0" tIns="0" rIns="0" bIns="0" rtlCol="0" anchor="ctr"/>
          <a:lstStyle/>
          <a:p>
            <a:pPr marL="0" indent="0">
              <a:buNone/>
            </a:pPr>
            <a:r>
              <a:rPr lang="en-US" sz="1200" b="1" dirty="0">
                <a:solidFill>
                  <a:srgbClr val="2E2418"/>
                </a:solidFill>
                <a:latin typeface="Calibri" pitchFamily="34" charset="0"/>
                <a:ea typeface="Calibri" pitchFamily="34" charset="-122"/>
                <a:cs typeface="Calibri" pitchFamily="34" charset="-120"/>
              </a:rPr>
              <a:t>Forecast Error: ARIMA vs SARIMA (MAPE)</a:t>
            </a:r>
            <a:endParaRPr lang="en-US" sz="1200" dirty="0"/>
          </a:p>
        </p:txBody>
      </p:sp>
      <p:sp>
        <p:nvSpPr>
          <p:cNvPr id="22" name="Shape 20"/>
          <p:cNvSpPr/>
          <p:nvPr/>
        </p:nvSpPr>
        <p:spPr>
          <a:xfrm>
            <a:off x="1668780" y="3474720"/>
            <a:ext cx="1005840" cy="1920240"/>
          </a:xfrm>
          <a:prstGeom prst="rect">
            <a:avLst/>
          </a:prstGeom>
          <a:solidFill>
            <a:srgbClr val="8A6F52"/>
          </a:solidFill>
          <a:ln/>
        </p:spPr>
      </p:sp>
      <p:sp>
        <p:nvSpPr>
          <p:cNvPr id="23" name="Text 21"/>
          <p:cNvSpPr/>
          <p:nvPr/>
        </p:nvSpPr>
        <p:spPr>
          <a:xfrm>
            <a:off x="1485900" y="3182112"/>
            <a:ext cx="1371600" cy="256032"/>
          </a:xfrm>
          <a:prstGeom prst="rect">
            <a:avLst/>
          </a:prstGeom>
          <a:noFill/>
          <a:ln/>
        </p:spPr>
        <p:txBody>
          <a:bodyPr wrap="square" lIns="0" tIns="0" rIns="0" bIns="0" rtlCol="0" anchor="ctr"/>
          <a:lstStyle/>
          <a:p>
            <a:pPr marL="0" indent="0" algn="ctr">
              <a:buNone/>
            </a:pPr>
            <a:r>
              <a:rPr lang="en-US" sz="1200" b="1" dirty="0">
                <a:solidFill>
                  <a:srgbClr val="2E2418"/>
                </a:solidFill>
                <a:latin typeface="Calibri" pitchFamily="34" charset="0"/>
                <a:ea typeface="Calibri" pitchFamily="34" charset="-122"/>
                <a:cs typeface="Calibri" pitchFamily="34" charset="-120"/>
              </a:rPr>
              <a:t>28.4%</a:t>
            </a:r>
            <a:endParaRPr lang="en-US" sz="1200" dirty="0"/>
          </a:p>
        </p:txBody>
      </p:sp>
      <p:sp>
        <p:nvSpPr>
          <p:cNvPr id="24" name="Text 22"/>
          <p:cNvSpPr/>
          <p:nvPr/>
        </p:nvSpPr>
        <p:spPr>
          <a:xfrm>
            <a:off x="1485900" y="5468112"/>
            <a:ext cx="1371600" cy="256032"/>
          </a:xfrm>
          <a:prstGeom prst="rect">
            <a:avLst/>
          </a:prstGeom>
          <a:noFill/>
          <a:ln/>
        </p:spPr>
        <p:txBody>
          <a:bodyPr wrap="square" lIns="0" tIns="0" rIns="0" bIns="0" rtlCol="0" anchor="ctr"/>
          <a:lstStyle/>
          <a:p>
            <a:pPr marL="0" indent="0" algn="ctr">
              <a:buNone/>
            </a:pPr>
            <a:r>
              <a:rPr lang="en-US" sz="1100" dirty="0">
                <a:solidFill>
                  <a:srgbClr val="8C7A67"/>
                </a:solidFill>
                <a:latin typeface="Calibri" pitchFamily="34" charset="0"/>
                <a:ea typeface="Calibri" pitchFamily="34" charset="-122"/>
                <a:cs typeface="Calibri" pitchFamily="34" charset="-120"/>
              </a:rPr>
              <a:t>ARIMA</a:t>
            </a:r>
            <a:endParaRPr lang="en-US" sz="1100" dirty="0"/>
          </a:p>
        </p:txBody>
      </p:sp>
      <p:sp>
        <p:nvSpPr>
          <p:cNvPr id="25" name="Shape 23"/>
          <p:cNvSpPr/>
          <p:nvPr/>
        </p:nvSpPr>
        <p:spPr>
          <a:xfrm>
            <a:off x="3589020" y="4164384"/>
            <a:ext cx="1005840" cy="1230576"/>
          </a:xfrm>
          <a:prstGeom prst="rect">
            <a:avLst/>
          </a:prstGeom>
          <a:solidFill>
            <a:srgbClr val="C5A15F"/>
          </a:solidFill>
          <a:ln/>
        </p:spPr>
      </p:sp>
      <p:sp>
        <p:nvSpPr>
          <p:cNvPr id="26" name="Text 24"/>
          <p:cNvSpPr/>
          <p:nvPr/>
        </p:nvSpPr>
        <p:spPr>
          <a:xfrm>
            <a:off x="3406140" y="3871776"/>
            <a:ext cx="1371600" cy="256032"/>
          </a:xfrm>
          <a:prstGeom prst="rect">
            <a:avLst/>
          </a:prstGeom>
          <a:noFill/>
          <a:ln/>
        </p:spPr>
        <p:txBody>
          <a:bodyPr wrap="square" lIns="0" tIns="0" rIns="0" bIns="0" rtlCol="0" anchor="ctr"/>
          <a:lstStyle/>
          <a:p>
            <a:pPr marL="0" indent="0" algn="ctr">
              <a:buNone/>
            </a:pPr>
            <a:r>
              <a:rPr lang="en-US" sz="1200" b="1" dirty="0">
                <a:solidFill>
                  <a:srgbClr val="2E2418"/>
                </a:solidFill>
                <a:latin typeface="Calibri" pitchFamily="34" charset="0"/>
                <a:ea typeface="Calibri" pitchFamily="34" charset="-122"/>
                <a:cs typeface="Calibri" pitchFamily="34" charset="-120"/>
              </a:rPr>
              <a:t>18.2%</a:t>
            </a:r>
            <a:endParaRPr lang="en-US" sz="1200" dirty="0"/>
          </a:p>
        </p:txBody>
      </p:sp>
      <p:sp>
        <p:nvSpPr>
          <p:cNvPr id="27" name="Text 25"/>
          <p:cNvSpPr/>
          <p:nvPr/>
        </p:nvSpPr>
        <p:spPr>
          <a:xfrm>
            <a:off x="3406140" y="5468112"/>
            <a:ext cx="1371600" cy="256032"/>
          </a:xfrm>
          <a:prstGeom prst="rect">
            <a:avLst/>
          </a:prstGeom>
          <a:noFill/>
          <a:ln/>
        </p:spPr>
        <p:txBody>
          <a:bodyPr wrap="square" lIns="0" tIns="0" rIns="0" bIns="0" rtlCol="0" anchor="ctr"/>
          <a:lstStyle/>
          <a:p>
            <a:pPr marL="0" indent="0" algn="ctr">
              <a:buNone/>
            </a:pPr>
            <a:r>
              <a:rPr lang="en-US" sz="1100" dirty="0">
                <a:solidFill>
                  <a:srgbClr val="8C7A67"/>
                </a:solidFill>
                <a:latin typeface="Calibri" pitchFamily="34" charset="0"/>
                <a:ea typeface="Calibri" pitchFamily="34" charset="-122"/>
                <a:cs typeface="Calibri" pitchFamily="34" charset="-120"/>
              </a:rPr>
              <a:t>SARIMA</a:t>
            </a:r>
            <a:endParaRPr lang="en-US" sz="1100" dirty="0"/>
          </a:p>
        </p:txBody>
      </p:sp>
      <p:sp>
        <p:nvSpPr>
          <p:cNvPr id="28" name="Shape 26"/>
          <p:cNvSpPr/>
          <p:nvPr/>
        </p:nvSpPr>
        <p:spPr>
          <a:xfrm>
            <a:off x="731520" y="5394960"/>
            <a:ext cx="4800600" cy="0"/>
          </a:xfrm>
          <a:prstGeom prst="line">
            <a:avLst/>
          </a:prstGeom>
          <a:noFill/>
          <a:ln w="12700">
            <a:solidFill>
              <a:srgbClr val="E7D9C4"/>
            </a:solidFill>
            <a:prstDash val="solid"/>
          </a:ln>
        </p:spPr>
      </p:sp>
      <p:sp>
        <p:nvSpPr>
          <p:cNvPr id="29" name="Shape 27"/>
          <p:cNvSpPr/>
          <p:nvPr/>
        </p:nvSpPr>
        <p:spPr>
          <a:xfrm>
            <a:off x="6080760" y="2606040"/>
            <a:ext cx="5653735" cy="3383280"/>
          </a:xfrm>
          <a:prstGeom prst="roundRect">
            <a:avLst>
              <a:gd name="adj" fmla="val 1892"/>
            </a:avLst>
          </a:prstGeom>
          <a:solidFill>
            <a:srgbClr val="2E2418"/>
          </a:solidFill>
          <a:ln/>
        </p:spPr>
      </p:sp>
      <p:sp>
        <p:nvSpPr>
          <p:cNvPr id="30" name="Text 28"/>
          <p:cNvSpPr/>
          <p:nvPr/>
        </p:nvSpPr>
        <p:spPr>
          <a:xfrm>
            <a:off x="6355080" y="2807208"/>
            <a:ext cx="5105095" cy="228600"/>
          </a:xfrm>
          <a:prstGeom prst="rect">
            <a:avLst/>
          </a:prstGeom>
          <a:noFill/>
          <a:ln/>
        </p:spPr>
        <p:txBody>
          <a:bodyPr wrap="square" lIns="0" tIns="0" rIns="0" bIns="0" rtlCol="0" anchor="ctr"/>
          <a:lstStyle/>
          <a:p>
            <a:pPr marL="0" indent="0">
              <a:buNone/>
            </a:pPr>
            <a:r>
              <a:rPr lang="en-US" sz="1050" b="1" kern="0" spc="100" dirty="0">
                <a:solidFill>
                  <a:srgbClr val="C5A15F"/>
                </a:solidFill>
                <a:latin typeface="Calibri" pitchFamily="34" charset="0"/>
                <a:ea typeface="Calibri" pitchFamily="34" charset="-122"/>
                <a:cs typeface="Calibri" pitchFamily="34" charset="-120"/>
              </a:rPr>
              <a:t>HYPOTHESIS TESTING</a:t>
            </a:r>
            <a:endParaRPr lang="en-US" sz="1050" dirty="0"/>
          </a:p>
        </p:txBody>
      </p:sp>
      <p:sp>
        <p:nvSpPr>
          <p:cNvPr id="31" name="Text 29"/>
          <p:cNvSpPr/>
          <p:nvPr/>
        </p:nvSpPr>
        <p:spPr>
          <a:xfrm>
            <a:off x="6355080" y="3108960"/>
            <a:ext cx="5105095" cy="292608"/>
          </a:xfrm>
          <a:prstGeom prst="rect">
            <a:avLst/>
          </a:prstGeom>
          <a:noFill/>
          <a:ln/>
        </p:spPr>
        <p:txBody>
          <a:bodyPr wrap="square" lIns="0" tIns="0" rIns="0" bIns="0" rtlCol="0" anchor="ctr"/>
          <a:lstStyle/>
          <a:p>
            <a:pPr marL="0" indent="0">
              <a:lnSpc>
                <a:spcPct val="110000"/>
              </a:lnSpc>
              <a:buNone/>
            </a:pPr>
            <a:r>
              <a:rPr lang="en-US" sz="1050" dirty="0">
                <a:solidFill>
                  <a:srgbClr val="F1E8DB"/>
                </a:solidFill>
                <a:latin typeface="Calibri" pitchFamily="34" charset="0"/>
                <a:ea typeface="Calibri" pitchFamily="34" charset="-122"/>
                <a:cs typeface="Calibri" pitchFamily="34" charset="-120"/>
              </a:rPr>
              <a:t>T-test, West vs East profit: p = 0.67, no significant difference</a:t>
            </a:r>
            <a:endParaRPr lang="en-US" sz="1050" dirty="0"/>
          </a:p>
        </p:txBody>
      </p:sp>
      <p:sp>
        <p:nvSpPr>
          <p:cNvPr id="32" name="Text 30"/>
          <p:cNvSpPr/>
          <p:nvPr/>
        </p:nvSpPr>
        <p:spPr>
          <a:xfrm>
            <a:off x="6355080" y="3419856"/>
            <a:ext cx="5105095" cy="292608"/>
          </a:xfrm>
          <a:prstGeom prst="rect">
            <a:avLst/>
          </a:prstGeom>
          <a:noFill/>
          <a:ln/>
        </p:spPr>
        <p:txBody>
          <a:bodyPr wrap="square" lIns="0" tIns="0" rIns="0" bIns="0" rtlCol="0" anchor="ctr"/>
          <a:lstStyle/>
          <a:p>
            <a:pPr marL="0" indent="0">
              <a:lnSpc>
                <a:spcPct val="110000"/>
              </a:lnSpc>
              <a:buNone/>
            </a:pPr>
            <a:r>
              <a:rPr lang="en-US" sz="1050" dirty="0">
                <a:solidFill>
                  <a:srgbClr val="F1E8DB"/>
                </a:solidFill>
                <a:latin typeface="Calibri" pitchFamily="34" charset="0"/>
                <a:ea typeface="Calibri" pitchFamily="34" charset="-122"/>
                <a:cs typeface="Calibri" pitchFamily="34" charset="-120"/>
              </a:rPr>
              <a:t>Chi-square, Segment vs Region: p = 0.40, independent</a:t>
            </a:r>
            <a:endParaRPr lang="en-US" sz="1050" dirty="0"/>
          </a:p>
        </p:txBody>
      </p:sp>
      <p:sp>
        <p:nvSpPr>
          <p:cNvPr id="33" name="Text 31"/>
          <p:cNvSpPr/>
          <p:nvPr/>
        </p:nvSpPr>
        <p:spPr>
          <a:xfrm>
            <a:off x="6355080" y="3730752"/>
            <a:ext cx="5105095" cy="292608"/>
          </a:xfrm>
          <a:prstGeom prst="rect">
            <a:avLst/>
          </a:prstGeom>
          <a:noFill/>
          <a:ln/>
        </p:spPr>
        <p:txBody>
          <a:bodyPr wrap="square" lIns="0" tIns="0" rIns="0" bIns="0" rtlCol="0" anchor="ctr"/>
          <a:lstStyle/>
          <a:p>
            <a:pPr marL="0" indent="0">
              <a:lnSpc>
                <a:spcPct val="110000"/>
              </a:lnSpc>
              <a:buNone/>
            </a:pPr>
            <a:r>
              <a:rPr lang="en-US" sz="1050" dirty="0">
                <a:solidFill>
                  <a:srgbClr val="F1E8DB"/>
                </a:solidFill>
                <a:latin typeface="Calibri" pitchFamily="34" charset="0"/>
                <a:ea typeface="Calibri" pitchFamily="34" charset="-122"/>
                <a:cs typeface="Calibri" pitchFamily="34" charset="-120"/>
              </a:rPr>
              <a:t>ANOVA, Sales across regions: p = 0.60, no significant difference</a:t>
            </a:r>
            <a:endParaRPr lang="en-US" sz="1050" dirty="0"/>
          </a:p>
        </p:txBody>
      </p:sp>
      <p:sp>
        <p:nvSpPr>
          <p:cNvPr id="34" name="Text 32"/>
          <p:cNvSpPr/>
          <p:nvPr/>
        </p:nvSpPr>
        <p:spPr>
          <a:xfrm>
            <a:off x="6355080" y="4096512"/>
            <a:ext cx="5105095" cy="502920"/>
          </a:xfrm>
          <a:prstGeom prst="rect">
            <a:avLst/>
          </a:prstGeom>
          <a:noFill/>
          <a:ln/>
        </p:spPr>
        <p:txBody>
          <a:bodyPr wrap="square" lIns="0" tIns="0" rIns="0" bIns="0" rtlCol="0" anchor="ctr"/>
          <a:lstStyle/>
          <a:p>
            <a:pPr marL="0" indent="0">
              <a:lnSpc>
                <a:spcPct val="112000"/>
              </a:lnSpc>
              <a:buNone/>
            </a:pPr>
            <a:r>
              <a:rPr lang="en-US" sz="1000" i="1" dirty="0">
                <a:solidFill>
                  <a:srgbClr val="BBA07B"/>
                </a:solidFill>
                <a:latin typeface="Calibri" pitchFamily="34" charset="0"/>
                <a:ea typeface="Calibri" pitchFamily="34" charset="-122"/>
                <a:cs typeface="Calibri" pitchFamily="34" charset="-120"/>
              </a:rPr>
              <a:t>Regional and segment differences are not statistically significant; profitability is driven by discounting and category, not geography.</a:t>
            </a:r>
            <a:endParaRPr lang="en-US" sz="1000" dirty="0"/>
          </a:p>
        </p:txBody>
      </p:sp>
      <p:sp>
        <p:nvSpPr>
          <p:cNvPr id="35" name="Shape 33"/>
          <p:cNvSpPr/>
          <p:nvPr/>
        </p:nvSpPr>
        <p:spPr>
          <a:xfrm>
            <a:off x="6355080" y="4700016"/>
            <a:ext cx="5105095" cy="0"/>
          </a:xfrm>
          <a:prstGeom prst="line">
            <a:avLst/>
          </a:prstGeom>
          <a:noFill/>
          <a:ln w="12700">
            <a:solidFill>
              <a:srgbClr val="463A2E"/>
            </a:solidFill>
            <a:prstDash val="solid"/>
          </a:ln>
        </p:spPr>
      </p:sp>
      <p:sp>
        <p:nvSpPr>
          <p:cNvPr id="36" name="Text 34"/>
          <p:cNvSpPr/>
          <p:nvPr/>
        </p:nvSpPr>
        <p:spPr>
          <a:xfrm>
            <a:off x="6355080" y="4828032"/>
            <a:ext cx="5105095" cy="228600"/>
          </a:xfrm>
          <a:prstGeom prst="rect">
            <a:avLst/>
          </a:prstGeom>
          <a:noFill/>
          <a:ln/>
        </p:spPr>
        <p:txBody>
          <a:bodyPr wrap="square" lIns="0" tIns="0" rIns="0" bIns="0" rtlCol="0" anchor="ctr"/>
          <a:lstStyle/>
          <a:p>
            <a:pPr marL="0" indent="0">
              <a:buNone/>
            </a:pPr>
            <a:r>
              <a:rPr lang="en-US" sz="1050" b="1" kern="0" spc="100" dirty="0">
                <a:solidFill>
                  <a:srgbClr val="C5A15F"/>
                </a:solidFill>
                <a:latin typeface="Calibri" pitchFamily="34" charset="0"/>
                <a:ea typeface="Calibri" pitchFamily="34" charset="-122"/>
                <a:cs typeface="Calibri" pitchFamily="34" charset="-120"/>
              </a:rPr>
              <a:t>RFM SEGMENTS (K-MEANS, K = 5)</a:t>
            </a:r>
            <a:endParaRPr lang="en-US" sz="1050" dirty="0"/>
          </a:p>
        </p:txBody>
      </p:sp>
      <p:sp>
        <p:nvSpPr>
          <p:cNvPr id="37" name="Text 35"/>
          <p:cNvSpPr/>
          <p:nvPr/>
        </p:nvSpPr>
        <p:spPr>
          <a:xfrm>
            <a:off x="6355080" y="5102352"/>
            <a:ext cx="5105095" cy="777240"/>
          </a:xfrm>
          <a:prstGeom prst="rect">
            <a:avLst/>
          </a:prstGeom>
          <a:noFill/>
          <a:ln/>
        </p:spPr>
        <p:txBody>
          <a:bodyPr wrap="square" lIns="0" tIns="0" rIns="0" bIns="0" rtlCol="0" anchor="ctr"/>
          <a:lstStyle/>
          <a:p>
            <a:pPr marL="0" indent="0">
              <a:lnSpc>
                <a:spcPct val="125000"/>
              </a:lnSpc>
              <a:buNone/>
            </a:pPr>
            <a:r>
              <a:rPr lang="en-US" sz="1030" dirty="0">
                <a:solidFill>
                  <a:srgbClr val="F1E8DB"/>
                </a:solidFill>
                <a:latin typeface="Calibri" pitchFamily="34" charset="0"/>
                <a:ea typeface="Calibri" pitchFamily="34" charset="-122"/>
                <a:cs typeface="Calibri" pitchFamily="34" charset="-120"/>
              </a:rPr>
              <a:t>Top Tier (6.9%, +$2,329/cust.) · Core Active (30.9%) · Efficient Buyers (28.3%) · Discount Heavy (24.0%, -$182.60/cust.) · Lapsed (10.5%)</a:t>
            </a:r>
            <a:endParaRPr lang="en-US" sz="1030" dirty="0"/>
          </a:p>
        </p:txBody>
      </p:sp>
      <p:sp>
        <p:nvSpPr>
          <p:cNvPr id="38" name="Text 36"/>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39" name="Text 37"/>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FROM ANALYSIS TO ACTION</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Business Recommendations</a:t>
            </a:r>
            <a:endParaRPr lang="en-US" sz="3000" dirty="0"/>
          </a:p>
        </p:txBody>
      </p:sp>
      <p:sp>
        <p:nvSpPr>
          <p:cNvPr id="4" name="Shape 2"/>
          <p:cNvSpPr/>
          <p:nvPr/>
        </p:nvSpPr>
        <p:spPr>
          <a:xfrm>
            <a:off x="457200" y="1325880"/>
            <a:ext cx="11277295" cy="768096"/>
          </a:xfrm>
          <a:prstGeom prst="roundRect">
            <a:avLst>
              <a:gd name="adj" fmla="val 7143"/>
            </a:avLst>
          </a:prstGeom>
          <a:solidFill>
            <a:srgbClr val="F1E8DB"/>
          </a:solidFill>
          <a:ln w="12700">
            <a:solidFill>
              <a:srgbClr val="E7D9C4"/>
            </a:solidFill>
            <a:prstDash val="solid"/>
          </a:ln>
        </p:spPr>
      </p:sp>
      <p:sp>
        <p:nvSpPr>
          <p:cNvPr id="5" name="Shape 3"/>
          <p:cNvSpPr/>
          <p:nvPr/>
        </p:nvSpPr>
        <p:spPr>
          <a:xfrm>
            <a:off x="658368" y="1490472"/>
            <a:ext cx="438912" cy="438912"/>
          </a:xfrm>
          <a:prstGeom prst="ellipse">
            <a:avLst/>
          </a:prstGeom>
          <a:solidFill>
            <a:srgbClr val="C5A15F"/>
          </a:solidFill>
          <a:ln/>
        </p:spPr>
      </p:sp>
      <p:sp>
        <p:nvSpPr>
          <p:cNvPr id="6" name="Text 4"/>
          <p:cNvSpPr/>
          <p:nvPr/>
        </p:nvSpPr>
        <p:spPr>
          <a:xfrm>
            <a:off x="658368" y="149047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417320"/>
            <a:ext cx="3291840" cy="548640"/>
          </a:xfrm>
          <a:prstGeom prst="rect">
            <a:avLst/>
          </a:prstGeom>
          <a:noFill/>
          <a:ln/>
        </p:spPr>
        <p:txBody>
          <a:bodyPr wrap="square" lIns="0" tIns="0" rIns="0" bIns="0" rtlCol="0" anchor="ctr"/>
          <a:lstStyle/>
          <a:p>
            <a:pPr marL="0" indent="0">
              <a:lnSpc>
                <a:spcPct val="105000"/>
              </a:lnSpc>
              <a:buNone/>
            </a:pPr>
            <a:r>
              <a:rPr lang="en-US" sz="1350" b="1" dirty="0">
                <a:solidFill>
                  <a:srgbClr val="2E2418"/>
                </a:solidFill>
                <a:latin typeface="Calibri" pitchFamily="34" charset="0"/>
                <a:ea typeface="Calibri" pitchFamily="34" charset="-122"/>
                <a:cs typeface="Calibri" pitchFamily="34" charset="-120"/>
              </a:rPr>
              <a:t>Tighten discount governance</a:t>
            </a:r>
            <a:endParaRPr lang="en-US" sz="1350" dirty="0"/>
          </a:p>
        </p:txBody>
      </p:sp>
      <p:sp>
        <p:nvSpPr>
          <p:cNvPr id="8" name="Text 6"/>
          <p:cNvSpPr/>
          <p:nvPr/>
        </p:nvSpPr>
        <p:spPr>
          <a:xfrm>
            <a:off x="4343400" y="1380744"/>
            <a:ext cx="7116775" cy="640080"/>
          </a:xfrm>
          <a:prstGeom prst="rect">
            <a:avLst/>
          </a:prstGeom>
          <a:noFill/>
          <a:ln/>
        </p:spPr>
        <p:txBody>
          <a:bodyPr wrap="square" lIns="0" tIns="0" rIns="0" bIns="0" rtlCol="0" anchor="ctr"/>
          <a:lstStyle/>
          <a:p>
            <a:pPr marL="0" indent="0">
              <a:lnSpc>
                <a:spcPct val="115000"/>
              </a:lnSpc>
              <a:buNone/>
            </a:pPr>
            <a:r>
              <a:rPr lang="en-US" sz="1100" dirty="0">
                <a:solidFill>
                  <a:srgbClr val="8C7A67"/>
                </a:solidFill>
                <a:latin typeface="Calibri" pitchFamily="34" charset="0"/>
                <a:ea typeface="Calibri" pitchFamily="34" charset="-122"/>
                <a:cs typeface="Calibri" pitchFamily="34" charset="-120"/>
              </a:rPr>
              <a:t>Cap or add approval steps for discounts in the 0.5 to 0.8 range, the clearest and most consistent driver of unprofitability across every stage of analysis.</a:t>
            </a:r>
            <a:endParaRPr lang="en-US" sz="1100" dirty="0"/>
          </a:p>
        </p:txBody>
      </p:sp>
      <p:sp>
        <p:nvSpPr>
          <p:cNvPr id="9" name="Shape 7"/>
          <p:cNvSpPr/>
          <p:nvPr/>
        </p:nvSpPr>
        <p:spPr>
          <a:xfrm>
            <a:off x="457200" y="2221992"/>
            <a:ext cx="11277295" cy="768096"/>
          </a:xfrm>
          <a:prstGeom prst="roundRect">
            <a:avLst>
              <a:gd name="adj" fmla="val 7143"/>
            </a:avLst>
          </a:prstGeom>
          <a:solidFill>
            <a:srgbClr val="F1E8DB"/>
          </a:solidFill>
          <a:ln w="12700">
            <a:solidFill>
              <a:srgbClr val="E7D9C4"/>
            </a:solidFill>
            <a:prstDash val="solid"/>
          </a:ln>
        </p:spPr>
      </p:sp>
      <p:sp>
        <p:nvSpPr>
          <p:cNvPr id="10" name="Shape 8"/>
          <p:cNvSpPr/>
          <p:nvPr/>
        </p:nvSpPr>
        <p:spPr>
          <a:xfrm>
            <a:off x="658368" y="2386584"/>
            <a:ext cx="438912" cy="438912"/>
          </a:xfrm>
          <a:prstGeom prst="ellipse">
            <a:avLst/>
          </a:prstGeom>
          <a:solidFill>
            <a:srgbClr val="C5A15F"/>
          </a:solidFill>
          <a:ln/>
        </p:spPr>
      </p:sp>
      <p:sp>
        <p:nvSpPr>
          <p:cNvPr id="11" name="Text 9"/>
          <p:cNvSpPr/>
          <p:nvPr/>
        </p:nvSpPr>
        <p:spPr>
          <a:xfrm>
            <a:off x="658368" y="2386584"/>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325880" y="2313432"/>
            <a:ext cx="3291840" cy="548640"/>
          </a:xfrm>
          <a:prstGeom prst="rect">
            <a:avLst/>
          </a:prstGeom>
          <a:noFill/>
          <a:ln/>
        </p:spPr>
        <p:txBody>
          <a:bodyPr wrap="square" lIns="0" tIns="0" rIns="0" bIns="0" rtlCol="0" anchor="ctr"/>
          <a:lstStyle/>
          <a:p>
            <a:pPr marL="0" indent="0">
              <a:lnSpc>
                <a:spcPct val="105000"/>
              </a:lnSpc>
              <a:buNone/>
            </a:pPr>
            <a:r>
              <a:rPr lang="en-US" sz="1350" b="1" dirty="0">
                <a:solidFill>
                  <a:srgbClr val="2E2418"/>
                </a:solidFill>
                <a:latin typeface="Calibri" pitchFamily="34" charset="0"/>
                <a:ea typeface="Calibri" pitchFamily="34" charset="-122"/>
                <a:cs typeface="Calibri" pitchFamily="34" charset="-120"/>
              </a:rPr>
              <a:t>Investigate Furniture's margin gap</a:t>
            </a:r>
            <a:endParaRPr lang="en-US" sz="1350" dirty="0"/>
          </a:p>
        </p:txBody>
      </p:sp>
      <p:sp>
        <p:nvSpPr>
          <p:cNvPr id="13" name="Text 11"/>
          <p:cNvSpPr/>
          <p:nvPr/>
        </p:nvSpPr>
        <p:spPr>
          <a:xfrm>
            <a:off x="4343400" y="2276856"/>
            <a:ext cx="7116775" cy="640080"/>
          </a:xfrm>
          <a:prstGeom prst="rect">
            <a:avLst/>
          </a:prstGeom>
          <a:noFill/>
          <a:ln/>
        </p:spPr>
        <p:txBody>
          <a:bodyPr wrap="square" lIns="0" tIns="0" rIns="0" bIns="0" rtlCol="0" anchor="ctr"/>
          <a:lstStyle/>
          <a:p>
            <a:pPr marL="0" indent="0">
              <a:lnSpc>
                <a:spcPct val="115000"/>
              </a:lnSpc>
              <a:buNone/>
            </a:pPr>
            <a:r>
              <a:rPr lang="en-US" sz="1100" dirty="0">
                <a:solidFill>
                  <a:srgbClr val="8C7A67"/>
                </a:solidFill>
                <a:latin typeface="Calibri" pitchFamily="34" charset="0"/>
                <a:ea typeface="Calibri" pitchFamily="34" charset="-122"/>
                <a:cs typeface="Calibri" pitchFamily="34" charset="-120"/>
              </a:rPr>
              <a:t>Furniture matches Technology and Office Supplies on sales volume but returns barely a tenth of their profit, pointing to a pricing or cost issue specific to the category.</a:t>
            </a:r>
            <a:endParaRPr lang="en-US" sz="1100" dirty="0"/>
          </a:p>
        </p:txBody>
      </p:sp>
      <p:sp>
        <p:nvSpPr>
          <p:cNvPr id="14" name="Shape 12"/>
          <p:cNvSpPr/>
          <p:nvPr/>
        </p:nvSpPr>
        <p:spPr>
          <a:xfrm>
            <a:off x="457200" y="3118104"/>
            <a:ext cx="11277295" cy="768096"/>
          </a:xfrm>
          <a:prstGeom prst="roundRect">
            <a:avLst>
              <a:gd name="adj" fmla="val 7143"/>
            </a:avLst>
          </a:prstGeom>
          <a:solidFill>
            <a:srgbClr val="F1E8DB"/>
          </a:solidFill>
          <a:ln w="12700">
            <a:solidFill>
              <a:srgbClr val="E7D9C4"/>
            </a:solidFill>
            <a:prstDash val="solid"/>
          </a:ln>
        </p:spPr>
      </p:sp>
      <p:sp>
        <p:nvSpPr>
          <p:cNvPr id="15" name="Shape 13"/>
          <p:cNvSpPr/>
          <p:nvPr/>
        </p:nvSpPr>
        <p:spPr>
          <a:xfrm>
            <a:off x="658368" y="3282696"/>
            <a:ext cx="438912" cy="438912"/>
          </a:xfrm>
          <a:prstGeom prst="ellipse">
            <a:avLst/>
          </a:prstGeom>
          <a:solidFill>
            <a:srgbClr val="C5A15F"/>
          </a:solidFill>
          <a:ln/>
        </p:spPr>
      </p:sp>
      <p:sp>
        <p:nvSpPr>
          <p:cNvPr id="16" name="Text 14"/>
          <p:cNvSpPr/>
          <p:nvPr/>
        </p:nvSpPr>
        <p:spPr>
          <a:xfrm>
            <a:off x="658368" y="3282696"/>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3209544"/>
            <a:ext cx="3291840" cy="548640"/>
          </a:xfrm>
          <a:prstGeom prst="rect">
            <a:avLst/>
          </a:prstGeom>
          <a:noFill/>
          <a:ln/>
        </p:spPr>
        <p:txBody>
          <a:bodyPr wrap="square" lIns="0" tIns="0" rIns="0" bIns="0" rtlCol="0" anchor="ctr"/>
          <a:lstStyle/>
          <a:p>
            <a:pPr marL="0" indent="0">
              <a:lnSpc>
                <a:spcPct val="105000"/>
              </a:lnSpc>
              <a:buNone/>
            </a:pPr>
            <a:r>
              <a:rPr lang="en-US" sz="1350" b="1" dirty="0">
                <a:solidFill>
                  <a:srgbClr val="2E2418"/>
                </a:solidFill>
                <a:latin typeface="Calibri" pitchFamily="34" charset="0"/>
                <a:ea typeface="Calibri" pitchFamily="34" charset="-122"/>
                <a:cs typeface="Calibri" pitchFamily="34" charset="-120"/>
              </a:rPr>
              <a:t>Act on customer segments</a:t>
            </a:r>
            <a:endParaRPr lang="en-US" sz="1350" dirty="0"/>
          </a:p>
        </p:txBody>
      </p:sp>
      <p:sp>
        <p:nvSpPr>
          <p:cNvPr id="18" name="Text 16"/>
          <p:cNvSpPr/>
          <p:nvPr/>
        </p:nvSpPr>
        <p:spPr>
          <a:xfrm>
            <a:off x="4343400" y="3172968"/>
            <a:ext cx="7116775" cy="640080"/>
          </a:xfrm>
          <a:prstGeom prst="rect">
            <a:avLst/>
          </a:prstGeom>
          <a:noFill/>
          <a:ln/>
        </p:spPr>
        <p:txBody>
          <a:bodyPr wrap="square" lIns="0" tIns="0" rIns="0" bIns="0" rtlCol="0" anchor="ctr"/>
          <a:lstStyle/>
          <a:p>
            <a:pPr marL="0" indent="0">
              <a:lnSpc>
                <a:spcPct val="115000"/>
              </a:lnSpc>
              <a:buNone/>
            </a:pPr>
            <a:r>
              <a:rPr lang="en-US" sz="1100" dirty="0">
                <a:solidFill>
                  <a:srgbClr val="8C7A67"/>
                </a:solidFill>
                <a:latin typeface="Calibri" pitchFamily="34" charset="0"/>
                <a:ea typeface="Calibri" pitchFamily="34" charset="-122"/>
                <a:cs typeface="Calibri" pitchFamily="34" charset="-120"/>
              </a:rPr>
              <a:t>Build a loyalty programme for the high value Top Tier segment; review discount eligibility for the loss making Discount Heavy segment.</a:t>
            </a:r>
            <a:endParaRPr lang="en-US" sz="1100" dirty="0"/>
          </a:p>
        </p:txBody>
      </p:sp>
      <p:sp>
        <p:nvSpPr>
          <p:cNvPr id="19" name="Shape 17"/>
          <p:cNvSpPr/>
          <p:nvPr/>
        </p:nvSpPr>
        <p:spPr>
          <a:xfrm>
            <a:off x="457200" y="4014216"/>
            <a:ext cx="11277295" cy="768096"/>
          </a:xfrm>
          <a:prstGeom prst="roundRect">
            <a:avLst>
              <a:gd name="adj" fmla="val 7143"/>
            </a:avLst>
          </a:prstGeom>
          <a:solidFill>
            <a:srgbClr val="F1E8DB"/>
          </a:solidFill>
          <a:ln w="12700">
            <a:solidFill>
              <a:srgbClr val="E7D9C4"/>
            </a:solidFill>
            <a:prstDash val="solid"/>
          </a:ln>
        </p:spPr>
      </p:sp>
      <p:sp>
        <p:nvSpPr>
          <p:cNvPr id="20" name="Shape 18"/>
          <p:cNvSpPr/>
          <p:nvPr/>
        </p:nvSpPr>
        <p:spPr>
          <a:xfrm>
            <a:off x="658368" y="4178808"/>
            <a:ext cx="438912" cy="438912"/>
          </a:xfrm>
          <a:prstGeom prst="ellipse">
            <a:avLst/>
          </a:prstGeom>
          <a:solidFill>
            <a:srgbClr val="C5A15F"/>
          </a:solidFill>
          <a:ln/>
        </p:spPr>
      </p:sp>
      <p:sp>
        <p:nvSpPr>
          <p:cNvPr id="21" name="Text 19"/>
          <p:cNvSpPr/>
          <p:nvPr/>
        </p:nvSpPr>
        <p:spPr>
          <a:xfrm>
            <a:off x="658368" y="4178808"/>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325880" y="4105656"/>
            <a:ext cx="3291840" cy="548640"/>
          </a:xfrm>
          <a:prstGeom prst="rect">
            <a:avLst/>
          </a:prstGeom>
          <a:noFill/>
          <a:ln/>
        </p:spPr>
        <p:txBody>
          <a:bodyPr wrap="square" lIns="0" tIns="0" rIns="0" bIns="0" rtlCol="0" anchor="ctr"/>
          <a:lstStyle/>
          <a:p>
            <a:pPr marL="0" indent="0">
              <a:lnSpc>
                <a:spcPct val="105000"/>
              </a:lnSpc>
              <a:buNone/>
            </a:pPr>
            <a:r>
              <a:rPr lang="en-US" sz="1350" b="1" dirty="0">
                <a:solidFill>
                  <a:srgbClr val="2E2418"/>
                </a:solidFill>
                <a:latin typeface="Calibri" pitchFamily="34" charset="0"/>
                <a:ea typeface="Calibri" pitchFamily="34" charset="-122"/>
                <a:cs typeface="Calibri" pitchFamily="34" charset="-120"/>
              </a:rPr>
              <a:t>Plan around confirmed seasonality</a:t>
            </a:r>
            <a:endParaRPr lang="en-US" sz="1350" dirty="0"/>
          </a:p>
        </p:txBody>
      </p:sp>
      <p:sp>
        <p:nvSpPr>
          <p:cNvPr id="23" name="Text 21"/>
          <p:cNvSpPr/>
          <p:nvPr/>
        </p:nvSpPr>
        <p:spPr>
          <a:xfrm>
            <a:off x="4343400" y="4069080"/>
            <a:ext cx="7116775" cy="640080"/>
          </a:xfrm>
          <a:prstGeom prst="rect">
            <a:avLst/>
          </a:prstGeom>
          <a:noFill/>
          <a:ln/>
        </p:spPr>
        <p:txBody>
          <a:bodyPr wrap="square" lIns="0" tIns="0" rIns="0" bIns="0" rtlCol="0" anchor="ctr"/>
          <a:lstStyle/>
          <a:p>
            <a:pPr marL="0" indent="0">
              <a:lnSpc>
                <a:spcPct val="115000"/>
              </a:lnSpc>
              <a:buNone/>
            </a:pPr>
            <a:r>
              <a:rPr lang="en-US" sz="1100" dirty="0">
                <a:solidFill>
                  <a:srgbClr val="8C7A67"/>
                </a:solidFill>
                <a:latin typeface="Calibri" pitchFamily="34" charset="0"/>
                <a:ea typeface="Calibri" pitchFamily="34" charset="-122"/>
                <a:cs typeface="Calibri" pitchFamily="34" charset="-120"/>
              </a:rPr>
              <a:t>Staff and stock for the consistent November to December peak, and adopt SARIMA over ARIMA for operational forecasting given its materially lower error.</a:t>
            </a:r>
            <a:endParaRPr lang="en-US" sz="1100" dirty="0"/>
          </a:p>
        </p:txBody>
      </p:sp>
      <p:sp>
        <p:nvSpPr>
          <p:cNvPr id="24" name="Shape 22"/>
          <p:cNvSpPr/>
          <p:nvPr/>
        </p:nvSpPr>
        <p:spPr>
          <a:xfrm>
            <a:off x="457200" y="4910328"/>
            <a:ext cx="11277295" cy="768096"/>
          </a:xfrm>
          <a:prstGeom prst="roundRect">
            <a:avLst>
              <a:gd name="adj" fmla="val 7143"/>
            </a:avLst>
          </a:prstGeom>
          <a:solidFill>
            <a:srgbClr val="F1E8DB"/>
          </a:solidFill>
          <a:ln w="12700">
            <a:solidFill>
              <a:srgbClr val="E7D9C4"/>
            </a:solidFill>
            <a:prstDash val="solid"/>
          </a:ln>
        </p:spPr>
      </p:sp>
      <p:sp>
        <p:nvSpPr>
          <p:cNvPr id="25" name="Shape 23"/>
          <p:cNvSpPr/>
          <p:nvPr/>
        </p:nvSpPr>
        <p:spPr>
          <a:xfrm>
            <a:off x="658368" y="5074920"/>
            <a:ext cx="438912" cy="438912"/>
          </a:xfrm>
          <a:prstGeom prst="ellipse">
            <a:avLst/>
          </a:prstGeom>
          <a:solidFill>
            <a:srgbClr val="C5A15F"/>
          </a:solidFill>
          <a:ln/>
        </p:spPr>
      </p:sp>
      <p:sp>
        <p:nvSpPr>
          <p:cNvPr id="26" name="Text 24"/>
          <p:cNvSpPr/>
          <p:nvPr/>
        </p:nvSpPr>
        <p:spPr>
          <a:xfrm>
            <a:off x="658368" y="507492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325880" y="5001768"/>
            <a:ext cx="3291840" cy="548640"/>
          </a:xfrm>
          <a:prstGeom prst="rect">
            <a:avLst/>
          </a:prstGeom>
          <a:noFill/>
          <a:ln/>
        </p:spPr>
        <p:txBody>
          <a:bodyPr wrap="square" lIns="0" tIns="0" rIns="0" bIns="0" rtlCol="0" anchor="ctr"/>
          <a:lstStyle/>
          <a:p>
            <a:pPr marL="0" indent="0">
              <a:lnSpc>
                <a:spcPct val="105000"/>
              </a:lnSpc>
              <a:buNone/>
            </a:pPr>
            <a:r>
              <a:rPr lang="en-US" sz="1350" b="1" dirty="0">
                <a:solidFill>
                  <a:srgbClr val="2E2418"/>
                </a:solidFill>
                <a:latin typeface="Calibri" pitchFamily="34" charset="0"/>
                <a:ea typeface="Calibri" pitchFamily="34" charset="-122"/>
                <a:cs typeface="Calibri" pitchFamily="34" charset="-120"/>
              </a:rPr>
              <a:t>Keep pricing strategy national, not regional</a:t>
            </a:r>
            <a:endParaRPr lang="en-US" sz="1350" dirty="0"/>
          </a:p>
        </p:txBody>
      </p:sp>
      <p:sp>
        <p:nvSpPr>
          <p:cNvPr id="28" name="Text 26"/>
          <p:cNvSpPr/>
          <p:nvPr/>
        </p:nvSpPr>
        <p:spPr>
          <a:xfrm>
            <a:off x="4343400" y="4965192"/>
            <a:ext cx="7116775" cy="640080"/>
          </a:xfrm>
          <a:prstGeom prst="rect">
            <a:avLst/>
          </a:prstGeom>
          <a:noFill/>
          <a:ln/>
        </p:spPr>
        <p:txBody>
          <a:bodyPr wrap="square" lIns="0" tIns="0" rIns="0" bIns="0" rtlCol="0" anchor="ctr"/>
          <a:lstStyle/>
          <a:p>
            <a:pPr marL="0" indent="0">
              <a:lnSpc>
                <a:spcPct val="115000"/>
              </a:lnSpc>
              <a:buNone/>
            </a:pPr>
            <a:r>
              <a:rPr lang="en-US" sz="1100" dirty="0">
                <a:solidFill>
                  <a:srgbClr val="8C7A67"/>
                </a:solidFill>
                <a:latin typeface="Calibri" pitchFamily="34" charset="0"/>
                <a:ea typeface="Calibri" pitchFamily="34" charset="-122"/>
                <a:cs typeface="Calibri" pitchFamily="34" charset="-120"/>
              </a:rPr>
              <a:t>Hypothesis testing found no statistically significant regional effect on profit or order value; regional revenue gaps are a volume story, not a pricing story.</a:t>
            </a:r>
            <a:endParaRPr lang="en-US" sz="1100" dirty="0"/>
          </a:p>
        </p:txBody>
      </p:sp>
      <p:sp>
        <p:nvSpPr>
          <p:cNvPr id="29" name="Text 27"/>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30" name="Text 28"/>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REFLECTIONS</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Challenges and Learnings</a:t>
            </a:r>
            <a:endParaRPr lang="en-US" sz="3000" dirty="0"/>
          </a:p>
        </p:txBody>
      </p:sp>
      <p:sp>
        <p:nvSpPr>
          <p:cNvPr id="4" name="Shape 2"/>
          <p:cNvSpPr/>
          <p:nvPr/>
        </p:nvSpPr>
        <p:spPr>
          <a:xfrm>
            <a:off x="457200" y="1298448"/>
            <a:ext cx="5501488" cy="4892040"/>
          </a:xfrm>
          <a:prstGeom prst="roundRect">
            <a:avLst>
              <a:gd name="adj" fmla="val 1308"/>
            </a:avLst>
          </a:prstGeom>
          <a:solidFill>
            <a:srgbClr val="F1E8DB"/>
          </a:solidFill>
          <a:ln w="12700">
            <a:solidFill>
              <a:srgbClr val="E7D9C4"/>
            </a:solidFill>
            <a:prstDash val="solid"/>
          </a:ln>
        </p:spPr>
      </p:sp>
      <p:sp>
        <p:nvSpPr>
          <p:cNvPr id="5" name="Text 3"/>
          <p:cNvSpPr/>
          <p:nvPr/>
        </p:nvSpPr>
        <p:spPr>
          <a:xfrm>
            <a:off x="749808" y="1508760"/>
            <a:ext cx="4952848" cy="256032"/>
          </a:xfrm>
          <a:prstGeom prst="rect">
            <a:avLst/>
          </a:prstGeom>
          <a:noFill/>
          <a:ln/>
        </p:spPr>
        <p:txBody>
          <a:bodyPr wrap="square" lIns="0" tIns="0" rIns="0" bIns="0" rtlCol="0" anchor="ctr"/>
          <a:lstStyle/>
          <a:p>
            <a:pPr marL="0" indent="0">
              <a:buNone/>
            </a:pPr>
            <a:r>
              <a:rPr lang="en-US" sz="1150" b="1" kern="0" spc="120" dirty="0">
                <a:solidFill>
                  <a:srgbClr val="8A6F52"/>
                </a:solidFill>
                <a:latin typeface="Calibri" pitchFamily="34" charset="0"/>
                <a:ea typeface="Calibri" pitchFamily="34" charset="-122"/>
                <a:cs typeface="Calibri" pitchFamily="34" charset="-120"/>
              </a:rPr>
              <a:t>CHALLENGES</a:t>
            </a:r>
            <a:endParaRPr lang="en-US" sz="1150" dirty="0"/>
          </a:p>
        </p:txBody>
      </p:sp>
      <p:sp>
        <p:nvSpPr>
          <p:cNvPr id="6" name="Shape 4"/>
          <p:cNvSpPr/>
          <p:nvPr/>
        </p:nvSpPr>
        <p:spPr>
          <a:xfrm>
            <a:off x="749808" y="1956816"/>
            <a:ext cx="91440" cy="91440"/>
          </a:xfrm>
          <a:prstGeom prst="rect">
            <a:avLst/>
          </a:prstGeom>
          <a:solidFill>
            <a:srgbClr val="8A6F52"/>
          </a:solidFill>
          <a:ln/>
        </p:spPr>
      </p:sp>
      <p:sp>
        <p:nvSpPr>
          <p:cNvPr id="7" name="Text 5"/>
          <p:cNvSpPr/>
          <p:nvPr/>
        </p:nvSpPr>
        <p:spPr>
          <a:xfrm>
            <a:off x="969264" y="190195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2E2418"/>
                </a:solidFill>
                <a:latin typeface="Calibri" pitchFamily="34" charset="0"/>
                <a:ea typeface="Calibri" pitchFamily="34" charset="-122"/>
                <a:cs typeface="Calibri" pitchFamily="34" charset="-120"/>
              </a:rPr>
              <a:t>Heavily right skewed Sales and high kurtosis Profit values made choosing between dropping and retaining outliers a genuine judgement call, not a mechanical step.</a:t>
            </a:r>
            <a:endParaRPr lang="en-US" sz="1100" dirty="0"/>
          </a:p>
        </p:txBody>
      </p:sp>
      <p:sp>
        <p:nvSpPr>
          <p:cNvPr id="8" name="Shape 6"/>
          <p:cNvSpPr/>
          <p:nvPr/>
        </p:nvSpPr>
        <p:spPr>
          <a:xfrm>
            <a:off x="749808" y="2916936"/>
            <a:ext cx="91440" cy="91440"/>
          </a:xfrm>
          <a:prstGeom prst="rect">
            <a:avLst/>
          </a:prstGeom>
          <a:solidFill>
            <a:srgbClr val="8A6F52"/>
          </a:solidFill>
          <a:ln/>
        </p:spPr>
      </p:sp>
      <p:sp>
        <p:nvSpPr>
          <p:cNvPr id="9" name="Text 7"/>
          <p:cNvSpPr/>
          <p:nvPr/>
        </p:nvSpPr>
        <p:spPr>
          <a:xfrm>
            <a:off x="969264" y="286207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2E2418"/>
                </a:solidFill>
                <a:latin typeface="Calibri" pitchFamily="34" charset="0"/>
                <a:ea typeface="Calibri" pitchFamily="34" charset="-122"/>
                <a:cs typeface="Calibri" pitchFamily="34" charset="-120"/>
              </a:rPr>
              <a:t>With only around 48 months of data and a 12 month seasonal cycle, there were very few full cycles for SARIMA to learn from.</a:t>
            </a:r>
            <a:endParaRPr lang="en-US" sz="1100" dirty="0"/>
          </a:p>
        </p:txBody>
      </p:sp>
      <p:sp>
        <p:nvSpPr>
          <p:cNvPr id="10" name="Shape 8"/>
          <p:cNvSpPr/>
          <p:nvPr/>
        </p:nvSpPr>
        <p:spPr>
          <a:xfrm>
            <a:off x="749808" y="3877056"/>
            <a:ext cx="91440" cy="91440"/>
          </a:xfrm>
          <a:prstGeom prst="rect">
            <a:avLst/>
          </a:prstGeom>
          <a:solidFill>
            <a:srgbClr val="8A6F52"/>
          </a:solidFill>
          <a:ln/>
        </p:spPr>
      </p:sp>
      <p:sp>
        <p:nvSpPr>
          <p:cNvPr id="11" name="Text 9"/>
          <p:cNvSpPr/>
          <p:nvPr/>
        </p:nvSpPr>
        <p:spPr>
          <a:xfrm>
            <a:off x="969264" y="382219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2E2418"/>
                </a:solidFill>
                <a:latin typeface="Calibri" pitchFamily="34" charset="0"/>
                <a:ea typeface="Calibri" pitchFamily="34" charset="-122"/>
                <a:cs typeface="Calibri" pitchFamily="34" charset="-120"/>
              </a:rPr>
              <a:t>The churn models reached reasonable accuracy but low recall, most true churners were not flagged, which meant learning to read a confusion matrix honestly rather than optimising for accuracy alone.</a:t>
            </a:r>
            <a:endParaRPr lang="en-US" sz="1100" dirty="0"/>
          </a:p>
        </p:txBody>
      </p:sp>
      <p:sp>
        <p:nvSpPr>
          <p:cNvPr id="12" name="Shape 10"/>
          <p:cNvSpPr/>
          <p:nvPr/>
        </p:nvSpPr>
        <p:spPr>
          <a:xfrm>
            <a:off x="749808" y="4837176"/>
            <a:ext cx="91440" cy="91440"/>
          </a:xfrm>
          <a:prstGeom prst="rect">
            <a:avLst/>
          </a:prstGeom>
          <a:solidFill>
            <a:srgbClr val="8A6F52"/>
          </a:solidFill>
          <a:ln/>
        </p:spPr>
      </p:sp>
      <p:sp>
        <p:nvSpPr>
          <p:cNvPr id="13" name="Text 11"/>
          <p:cNvSpPr/>
          <p:nvPr/>
        </p:nvSpPr>
        <p:spPr>
          <a:xfrm>
            <a:off x="969264" y="478231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2E2418"/>
                </a:solidFill>
                <a:latin typeface="Calibri" pitchFamily="34" charset="0"/>
                <a:ea typeface="Calibri" pitchFamily="34" charset="-122"/>
                <a:cs typeface="Calibri" pitchFamily="34" charset="-120"/>
              </a:rPr>
              <a:t>Keeping Python, SQL, and Power BI outputs consistent with one another as the cleaned dataset evolved required a disciplined, single source of truth workflow.</a:t>
            </a:r>
            <a:endParaRPr lang="en-US" sz="1100" dirty="0"/>
          </a:p>
        </p:txBody>
      </p:sp>
      <p:sp>
        <p:nvSpPr>
          <p:cNvPr id="14" name="Shape 12"/>
          <p:cNvSpPr/>
          <p:nvPr/>
        </p:nvSpPr>
        <p:spPr>
          <a:xfrm>
            <a:off x="6233008" y="1298448"/>
            <a:ext cx="5501488" cy="4892040"/>
          </a:xfrm>
          <a:prstGeom prst="roundRect">
            <a:avLst>
              <a:gd name="adj" fmla="val 1308"/>
            </a:avLst>
          </a:prstGeom>
          <a:solidFill>
            <a:srgbClr val="2E2418"/>
          </a:solidFill>
          <a:ln/>
        </p:spPr>
      </p:sp>
      <p:sp>
        <p:nvSpPr>
          <p:cNvPr id="15" name="Text 13"/>
          <p:cNvSpPr/>
          <p:nvPr/>
        </p:nvSpPr>
        <p:spPr>
          <a:xfrm>
            <a:off x="6525616" y="1508760"/>
            <a:ext cx="4952848" cy="256032"/>
          </a:xfrm>
          <a:prstGeom prst="rect">
            <a:avLst/>
          </a:prstGeom>
          <a:noFill/>
          <a:ln/>
        </p:spPr>
        <p:txBody>
          <a:bodyPr wrap="square" lIns="0" tIns="0" rIns="0" bIns="0" rtlCol="0" anchor="ctr"/>
          <a:lstStyle/>
          <a:p>
            <a:pPr marL="0" indent="0">
              <a:buNone/>
            </a:pPr>
            <a:r>
              <a:rPr lang="en-US" sz="1150" b="1" kern="0" spc="120" dirty="0">
                <a:solidFill>
                  <a:srgbClr val="C5A15F"/>
                </a:solidFill>
                <a:latin typeface="Calibri" pitchFamily="34" charset="0"/>
                <a:ea typeface="Calibri" pitchFamily="34" charset="-122"/>
                <a:cs typeface="Calibri" pitchFamily="34" charset="-120"/>
              </a:rPr>
              <a:t>LEARNINGS</a:t>
            </a:r>
            <a:endParaRPr lang="en-US" sz="1150" dirty="0"/>
          </a:p>
        </p:txBody>
      </p:sp>
      <p:sp>
        <p:nvSpPr>
          <p:cNvPr id="16" name="Shape 14"/>
          <p:cNvSpPr/>
          <p:nvPr/>
        </p:nvSpPr>
        <p:spPr>
          <a:xfrm>
            <a:off x="6525616" y="1956816"/>
            <a:ext cx="91440" cy="91440"/>
          </a:xfrm>
          <a:prstGeom prst="rect">
            <a:avLst/>
          </a:prstGeom>
          <a:solidFill>
            <a:srgbClr val="C5A15F"/>
          </a:solidFill>
          <a:ln/>
        </p:spPr>
      </p:sp>
      <p:sp>
        <p:nvSpPr>
          <p:cNvPr id="17" name="Text 15"/>
          <p:cNvSpPr/>
          <p:nvPr/>
        </p:nvSpPr>
        <p:spPr>
          <a:xfrm>
            <a:off x="6745072" y="190195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F1E8DB"/>
                </a:solidFill>
                <a:latin typeface="Calibri" pitchFamily="34" charset="0"/>
                <a:ea typeface="Calibri" pitchFamily="34" charset="-122"/>
                <a:cs typeface="Calibri" pitchFamily="34" charset="-120"/>
              </a:rPr>
              <a:t>Correlation is a starting point, not a conclusion. Hypothesis testing (t-test, chi-square, ANOVA) was essential to confirm which patterns were real and which were noise.</a:t>
            </a:r>
            <a:endParaRPr lang="en-US" sz="1100" dirty="0"/>
          </a:p>
        </p:txBody>
      </p:sp>
      <p:sp>
        <p:nvSpPr>
          <p:cNvPr id="18" name="Shape 16"/>
          <p:cNvSpPr/>
          <p:nvPr/>
        </p:nvSpPr>
        <p:spPr>
          <a:xfrm>
            <a:off x="6525616" y="2916936"/>
            <a:ext cx="91440" cy="91440"/>
          </a:xfrm>
          <a:prstGeom prst="rect">
            <a:avLst/>
          </a:prstGeom>
          <a:solidFill>
            <a:srgbClr val="C5A15F"/>
          </a:solidFill>
          <a:ln/>
        </p:spPr>
      </p:sp>
      <p:sp>
        <p:nvSpPr>
          <p:cNvPr id="19" name="Text 17"/>
          <p:cNvSpPr/>
          <p:nvPr/>
        </p:nvSpPr>
        <p:spPr>
          <a:xfrm>
            <a:off x="6745072" y="286207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F1E8DB"/>
                </a:solidFill>
                <a:latin typeface="Calibri" pitchFamily="34" charset="0"/>
                <a:ea typeface="Calibri" pitchFamily="34" charset="-122"/>
                <a:cs typeface="Calibri" pitchFamily="34" charset="-120"/>
              </a:rPr>
              <a:t>Seasonal models beat naive ones by a wide margin here: SARIMA cut forecast error by about 36 percent over plain ARIMA by capturing the yearly cycle.</a:t>
            </a:r>
            <a:endParaRPr lang="en-US" sz="1100" dirty="0"/>
          </a:p>
        </p:txBody>
      </p:sp>
      <p:sp>
        <p:nvSpPr>
          <p:cNvPr id="20" name="Shape 18"/>
          <p:cNvSpPr/>
          <p:nvPr/>
        </p:nvSpPr>
        <p:spPr>
          <a:xfrm>
            <a:off x="6525616" y="3877056"/>
            <a:ext cx="91440" cy="91440"/>
          </a:xfrm>
          <a:prstGeom prst="rect">
            <a:avLst/>
          </a:prstGeom>
          <a:solidFill>
            <a:srgbClr val="C5A15F"/>
          </a:solidFill>
          <a:ln/>
        </p:spPr>
      </p:sp>
      <p:sp>
        <p:nvSpPr>
          <p:cNvPr id="21" name="Text 19"/>
          <p:cNvSpPr/>
          <p:nvPr/>
        </p:nvSpPr>
        <p:spPr>
          <a:xfrm>
            <a:off x="6745072" y="382219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F1E8DB"/>
                </a:solidFill>
                <a:latin typeface="Calibri" pitchFamily="34" charset="0"/>
                <a:ea typeface="Calibri" pitchFamily="34" charset="-122"/>
                <a:cs typeface="Calibri" pitchFamily="34" charset="-120"/>
              </a:rPr>
              <a:t>Behavioural segmentation (RFM) surfaces sharper, more actionable customer groups than demographic fields like Segment or Region ever did.</a:t>
            </a:r>
            <a:endParaRPr lang="en-US" sz="1100" dirty="0"/>
          </a:p>
        </p:txBody>
      </p:sp>
      <p:sp>
        <p:nvSpPr>
          <p:cNvPr id="22" name="Shape 20"/>
          <p:cNvSpPr/>
          <p:nvPr/>
        </p:nvSpPr>
        <p:spPr>
          <a:xfrm>
            <a:off x="6525616" y="4837176"/>
            <a:ext cx="91440" cy="91440"/>
          </a:xfrm>
          <a:prstGeom prst="rect">
            <a:avLst/>
          </a:prstGeom>
          <a:solidFill>
            <a:srgbClr val="C5A15F"/>
          </a:solidFill>
          <a:ln/>
        </p:spPr>
      </p:sp>
      <p:sp>
        <p:nvSpPr>
          <p:cNvPr id="23" name="Text 21"/>
          <p:cNvSpPr/>
          <p:nvPr/>
        </p:nvSpPr>
        <p:spPr>
          <a:xfrm>
            <a:off x="6745072" y="4782312"/>
            <a:ext cx="4678528" cy="868680"/>
          </a:xfrm>
          <a:prstGeom prst="rect">
            <a:avLst/>
          </a:prstGeom>
          <a:noFill/>
          <a:ln/>
        </p:spPr>
        <p:txBody>
          <a:bodyPr wrap="square" lIns="0" tIns="0" rIns="0" bIns="0" rtlCol="0" anchor="ctr"/>
          <a:lstStyle/>
          <a:p>
            <a:pPr marL="0" indent="0">
              <a:lnSpc>
                <a:spcPct val="115000"/>
              </a:lnSpc>
              <a:buNone/>
            </a:pPr>
            <a:r>
              <a:rPr lang="en-US" sz="1100" dirty="0">
                <a:solidFill>
                  <a:srgbClr val="F1E8DB"/>
                </a:solidFill>
                <a:latin typeface="Calibri" pitchFamily="34" charset="0"/>
                <a:ea typeface="Calibri" pitchFamily="34" charset="-122"/>
                <a:cs typeface="Calibri" pitchFamily="34" charset="-120"/>
              </a:rPr>
              <a:t>A dashboard is only as convincing as the narrative around it; pairing visuals with a written executive summary made the findings usable by a non technical audience.</a:t>
            </a:r>
            <a:endParaRPr lang="en-US" sz="1100" dirty="0"/>
          </a:p>
        </p:txBody>
      </p:sp>
      <p:sp>
        <p:nvSpPr>
          <p:cNvPr id="24" name="Text 22"/>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5" name="Text 23"/>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14</a:t>
            </a:r>
            <a:endParaRPr lang="en-US" sz="9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457200" y="411480"/>
            <a:ext cx="11277295" cy="237744"/>
          </a:xfrm>
          <a:prstGeom prst="rect">
            <a:avLst/>
          </a:prstGeom>
          <a:noFill/>
          <a:ln/>
        </p:spPr>
        <p:txBody>
          <a:bodyPr wrap="square" lIns="0" tIns="0" rIns="0" bIns="0" rtlCol="0" anchor="ctr"/>
          <a:lstStyle/>
          <a:p>
            <a:pPr marL="0" indent="0" algn="l">
              <a:buNone/>
            </a:pPr>
            <a:r>
              <a:rPr lang="en-US" sz="1150" b="1" kern="0" spc="200" dirty="0">
                <a:solidFill>
                  <a:srgbClr val="C5A15F"/>
                </a:solidFill>
                <a:latin typeface="Calibri" pitchFamily="34" charset="0"/>
                <a:ea typeface="Calibri" pitchFamily="34" charset="-122"/>
                <a:cs typeface="Calibri" pitchFamily="34" charset="-120"/>
              </a:rPr>
              <a:t>WHAT'S NEXT</a:t>
            </a:r>
            <a:endParaRPr lang="en-US" sz="1150" dirty="0"/>
          </a:p>
        </p:txBody>
      </p:sp>
      <p:sp>
        <p:nvSpPr>
          <p:cNvPr id="3" name="Text 1"/>
          <p:cNvSpPr/>
          <p:nvPr/>
        </p:nvSpPr>
        <p:spPr>
          <a:xfrm>
            <a:off x="457200" y="658368"/>
            <a:ext cx="11277295" cy="502920"/>
          </a:xfrm>
          <a:prstGeom prst="rect">
            <a:avLst/>
          </a:prstGeom>
          <a:noFill/>
          <a:ln/>
        </p:spPr>
        <p:txBody>
          <a:bodyPr wrap="square" lIns="0" tIns="0" rIns="0" bIns="0" rtlCol="0" anchor="ctr"/>
          <a:lstStyle/>
          <a:p>
            <a:pPr marL="0" indent="0" algn="l">
              <a:buNone/>
            </a:pPr>
            <a:r>
              <a:rPr lang="en-US" sz="3000" b="1" dirty="0">
                <a:solidFill>
                  <a:srgbClr val="2E2418"/>
                </a:solidFill>
                <a:latin typeface="Cambria" pitchFamily="34" charset="0"/>
                <a:ea typeface="Cambria" pitchFamily="34" charset="-122"/>
                <a:cs typeface="Cambria" pitchFamily="34" charset="-120"/>
              </a:rPr>
              <a:t>Future Scope</a:t>
            </a:r>
            <a:endParaRPr lang="en-US" sz="3000" dirty="0"/>
          </a:p>
        </p:txBody>
      </p:sp>
      <p:sp>
        <p:nvSpPr>
          <p:cNvPr id="4" name="Shape 2"/>
          <p:cNvSpPr/>
          <p:nvPr/>
        </p:nvSpPr>
        <p:spPr>
          <a:xfrm>
            <a:off x="457200" y="1371600"/>
            <a:ext cx="5478628" cy="2331720"/>
          </a:xfrm>
          <a:prstGeom prst="roundRect">
            <a:avLst>
              <a:gd name="adj" fmla="val 2745"/>
            </a:avLst>
          </a:prstGeom>
          <a:solidFill>
            <a:srgbClr val="F1E8DB"/>
          </a:solidFill>
          <a:ln w="12700">
            <a:solidFill>
              <a:srgbClr val="E7D9C4"/>
            </a:solidFill>
            <a:prstDash val="solid"/>
          </a:ln>
        </p:spPr>
      </p:sp>
      <p:sp>
        <p:nvSpPr>
          <p:cNvPr id="5" name="Shape 3"/>
          <p:cNvSpPr/>
          <p:nvPr/>
        </p:nvSpPr>
        <p:spPr>
          <a:xfrm>
            <a:off x="749808" y="1664208"/>
            <a:ext cx="457200" cy="457200"/>
          </a:xfrm>
          <a:prstGeom prst="ellipse">
            <a:avLst/>
          </a:prstGeom>
          <a:solidFill>
            <a:srgbClr val="C5A15F"/>
          </a:solidFill>
          <a:ln/>
        </p:spPr>
      </p:sp>
      <p:sp>
        <p:nvSpPr>
          <p:cNvPr id="6" name="Text 4"/>
          <p:cNvSpPr/>
          <p:nvPr/>
        </p:nvSpPr>
        <p:spPr>
          <a:xfrm>
            <a:off x="749808" y="1664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71600" y="1682496"/>
            <a:ext cx="4289908" cy="457200"/>
          </a:xfrm>
          <a:prstGeom prst="rect">
            <a:avLst/>
          </a:prstGeom>
          <a:noFill/>
          <a:ln/>
        </p:spPr>
        <p:txBody>
          <a:bodyPr wrap="square" lIns="0" tIns="0" rIns="0" bIns="0" rtlCol="0" anchor="ctr"/>
          <a:lstStyle/>
          <a:p>
            <a:pPr marL="0" indent="0">
              <a:buNone/>
            </a:pPr>
            <a:r>
              <a:rPr lang="en-US" sz="1500" b="1" dirty="0">
                <a:solidFill>
                  <a:srgbClr val="2E2418"/>
                </a:solidFill>
                <a:latin typeface="Calibri" pitchFamily="34" charset="0"/>
                <a:ea typeface="Calibri" pitchFamily="34" charset="-122"/>
                <a:cs typeface="Calibri" pitchFamily="34" charset="-120"/>
              </a:rPr>
              <a:t>Time aware churn features</a:t>
            </a:r>
            <a:endParaRPr lang="en-US" sz="1500" dirty="0"/>
          </a:p>
        </p:txBody>
      </p:sp>
      <p:sp>
        <p:nvSpPr>
          <p:cNvPr id="8" name="Text 6"/>
          <p:cNvSpPr/>
          <p:nvPr/>
        </p:nvSpPr>
        <p:spPr>
          <a:xfrm>
            <a:off x="749808" y="2331720"/>
            <a:ext cx="4893412" cy="1234440"/>
          </a:xfrm>
          <a:prstGeom prst="rect">
            <a:avLst/>
          </a:prstGeom>
          <a:noFill/>
          <a:ln/>
        </p:spPr>
        <p:txBody>
          <a:bodyPr wrap="square" lIns="0" tIns="0" rIns="0" bIns="0" rtlCol="0" anchor="ctr"/>
          <a:lstStyle/>
          <a:p>
            <a:pPr marL="0" indent="0">
              <a:lnSpc>
                <a:spcPct val="120000"/>
              </a:lnSpc>
              <a:buNone/>
            </a:pPr>
            <a:r>
              <a:rPr lang="en-US" sz="1150" dirty="0">
                <a:solidFill>
                  <a:srgbClr val="8C7A67"/>
                </a:solidFill>
                <a:latin typeface="Calibri" pitchFamily="34" charset="0"/>
                <a:ea typeface="Calibri" pitchFamily="34" charset="-122"/>
                <a:cs typeface="Calibri" pitchFamily="34" charset="-120"/>
              </a:rPr>
              <a:t>Move beyond static RFM snapshots to trend based, time aware features to improve the churn model's low recall.</a:t>
            </a:r>
            <a:endParaRPr lang="en-US" sz="1150" dirty="0"/>
          </a:p>
        </p:txBody>
      </p:sp>
      <p:sp>
        <p:nvSpPr>
          <p:cNvPr id="9" name="Shape 7"/>
          <p:cNvSpPr/>
          <p:nvPr/>
        </p:nvSpPr>
        <p:spPr>
          <a:xfrm>
            <a:off x="6255868" y="1371600"/>
            <a:ext cx="5478628" cy="2331720"/>
          </a:xfrm>
          <a:prstGeom prst="roundRect">
            <a:avLst>
              <a:gd name="adj" fmla="val 2745"/>
            </a:avLst>
          </a:prstGeom>
          <a:solidFill>
            <a:srgbClr val="F1E8DB"/>
          </a:solidFill>
          <a:ln w="12700">
            <a:solidFill>
              <a:srgbClr val="E7D9C4"/>
            </a:solidFill>
            <a:prstDash val="solid"/>
          </a:ln>
        </p:spPr>
      </p:sp>
      <p:sp>
        <p:nvSpPr>
          <p:cNvPr id="10" name="Shape 8"/>
          <p:cNvSpPr/>
          <p:nvPr/>
        </p:nvSpPr>
        <p:spPr>
          <a:xfrm>
            <a:off x="6548476" y="1664208"/>
            <a:ext cx="457200" cy="457200"/>
          </a:xfrm>
          <a:prstGeom prst="ellipse">
            <a:avLst/>
          </a:prstGeom>
          <a:solidFill>
            <a:srgbClr val="C5A15F"/>
          </a:solidFill>
          <a:ln/>
        </p:spPr>
      </p:sp>
      <p:sp>
        <p:nvSpPr>
          <p:cNvPr id="11" name="Text 9"/>
          <p:cNvSpPr/>
          <p:nvPr/>
        </p:nvSpPr>
        <p:spPr>
          <a:xfrm>
            <a:off x="6548476" y="1664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70268" y="1682496"/>
            <a:ext cx="4289908" cy="457200"/>
          </a:xfrm>
          <a:prstGeom prst="rect">
            <a:avLst/>
          </a:prstGeom>
          <a:noFill/>
          <a:ln/>
        </p:spPr>
        <p:txBody>
          <a:bodyPr wrap="square" lIns="0" tIns="0" rIns="0" bIns="0" rtlCol="0" anchor="ctr"/>
          <a:lstStyle/>
          <a:p>
            <a:pPr marL="0" indent="0">
              <a:buNone/>
            </a:pPr>
            <a:r>
              <a:rPr lang="en-US" sz="1500" b="1" dirty="0">
                <a:solidFill>
                  <a:srgbClr val="2E2418"/>
                </a:solidFill>
                <a:latin typeface="Calibri" pitchFamily="34" charset="0"/>
                <a:ea typeface="Calibri" pitchFamily="34" charset="-122"/>
                <a:cs typeface="Calibri" pitchFamily="34" charset="-120"/>
              </a:rPr>
              <a:t>More forecasting cycles</a:t>
            </a:r>
            <a:endParaRPr lang="en-US" sz="1500" dirty="0"/>
          </a:p>
        </p:txBody>
      </p:sp>
      <p:sp>
        <p:nvSpPr>
          <p:cNvPr id="13" name="Text 11"/>
          <p:cNvSpPr/>
          <p:nvPr/>
        </p:nvSpPr>
        <p:spPr>
          <a:xfrm>
            <a:off x="6548476" y="2331720"/>
            <a:ext cx="4893412" cy="1234440"/>
          </a:xfrm>
          <a:prstGeom prst="rect">
            <a:avLst/>
          </a:prstGeom>
          <a:noFill/>
          <a:ln/>
        </p:spPr>
        <p:txBody>
          <a:bodyPr wrap="square" lIns="0" tIns="0" rIns="0" bIns="0" rtlCol="0" anchor="ctr"/>
          <a:lstStyle/>
          <a:p>
            <a:pPr marL="0" indent="0">
              <a:lnSpc>
                <a:spcPct val="120000"/>
              </a:lnSpc>
              <a:buNone/>
            </a:pPr>
            <a:r>
              <a:rPr lang="en-US" sz="1150" dirty="0">
                <a:solidFill>
                  <a:srgbClr val="8C7A67"/>
                </a:solidFill>
                <a:latin typeface="Calibri" pitchFamily="34" charset="0"/>
                <a:ea typeface="Calibri" pitchFamily="34" charset="-122"/>
                <a:cs typeface="Calibri" pitchFamily="34" charset="-120"/>
              </a:rPr>
              <a:t>Extend the SARIMA forecast as more historical data becomes available, and benchmark against Prophet or gradient boosted alternatives.</a:t>
            </a:r>
            <a:endParaRPr lang="en-US" sz="1150" dirty="0"/>
          </a:p>
        </p:txBody>
      </p:sp>
      <p:sp>
        <p:nvSpPr>
          <p:cNvPr id="14" name="Shape 12"/>
          <p:cNvSpPr/>
          <p:nvPr/>
        </p:nvSpPr>
        <p:spPr>
          <a:xfrm>
            <a:off x="457200" y="3977640"/>
            <a:ext cx="5478628" cy="2331720"/>
          </a:xfrm>
          <a:prstGeom prst="roundRect">
            <a:avLst>
              <a:gd name="adj" fmla="val 2745"/>
            </a:avLst>
          </a:prstGeom>
          <a:solidFill>
            <a:srgbClr val="F1E8DB"/>
          </a:solidFill>
          <a:ln w="12700">
            <a:solidFill>
              <a:srgbClr val="E7D9C4"/>
            </a:solidFill>
            <a:prstDash val="solid"/>
          </a:ln>
        </p:spPr>
      </p:sp>
      <p:sp>
        <p:nvSpPr>
          <p:cNvPr id="15" name="Shape 13"/>
          <p:cNvSpPr/>
          <p:nvPr/>
        </p:nvSpPr>
        <p:spPr>
          <a:xfrm>
            <a:off x="749808" y="4270248"/>
            <a:ext cx="457200" cy="457200"/>
          </a:xfrm>
          <a:prstGeom prst="ellipse">
            <a:avLst/>
          </a:prstGeom>
          <a:solidFill>
            <a:srgbClr val="C5A15F"/>
          </a:solidFill>
          <a:ln/>
        </p:spPr>
      </p:sp>
      <p:sp>
        <p:nvSpPr>
          <p:cNvPr id="16" name="Text 14"/>
          <p:cNvSpPr/>
          <p:nvPr/>
        </p:nvSpPr>
        <p:spPr>
          <a:xfrm>
            <a:off x="749808" y="42702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71600" y="4288536"/>
            <a:ext cx="4289908" cy="457200"/>
          </a:xfrm>
          <a:prstGeom prst="rect">
            <a:avLst/>
          </a:prstGeom>
          <a:noFill/>
          <a:ln/>
        </p:spPr>
        <p:txBody>
          <a:bodyPr wrap="square" lIns="0" tIns="0" rIns="0" bIns="0" rtlCol="0" anchor="ctr"/>
          <a:lstStyle/>
          <a:p>
            <a:pPr marL="0" indent="0">
              <a:buNone/>
            </a:pPr>
            <a:r>
              <a:rPr lang="en-US" sz="1500" b="1" dirty="0">
                <a:solidFill>
                  <a:srgbClr val="2E2418"/>
                </a:solidFill>
                <a:latin typeface="Calibri" pitchFamily="34" charset="0"/>
                <a:ea typeface="Calibri" pitchFamily="34" charset="-122"/>
                <a:cs typeface="Calibri" pitchFamily="34" charset="-120"/>
              </a:rPr>
              <a:t>Full pipeline automation</a:t>
            </a:r>
            <a:endParaRPr lang="en-US" sz="1500" dirty="0"/>
          </a:p>
        </p:txBody>
      </p:sp>
      <p:sp>
        <p:nvSpPr>
          <p:cNvPr id="18" name="Text 16"/>
          <p:cNvSpPr/>
          <p:nvPr/>
        </p:nvSpPr>
        <p:spPr>
          <a:xfrm>
            <a:off x="749808" y="4937760"/>
            <a:ext cx="4893412" cy="1234440"/>
          </a:xfrm>
          <a:prstGeom prst="rect">
            <a:avLst/>
          </a:prstGeom>
          <a:noFill/>
          <a:ln/>
        </p:spPr>
        <p:txBody>
          <a:bodyPr wrap="square" lIns="0" tIns="0" rIns="0" bIns="0" rtlCol="0" anchor="ctr"/>
          <a:lstStyle/>
          <a:p>
            <a:pPr marL="0" indent="0">
              <a:lnSpc>
                <a:spcPct val="120000"/>
              </a:lnSpc>
              <a:buNone/>
            </a:pPr>
            <a:r>
              <a:rPr lang="en-US" sz="1150" dirty="0">
                <a:solidFill>
                  <a:srgbClr val="8C7A67"/>
                </a:solidFill>
                <a:latin typeface="Calibri" pitchFamily="34" charset="0"/>
                <a:ea typeface="Calibri" pitchFamily="34" charset="-122"/>
                <a:cs typeface="Calibri" pitchFamily="34" charset="-120"/>
              </a:rPr>
              <a:t>Automate extraction, cleaning, and KPI refresh end to end so the dashboard and models stay current without manual reruns.</a:t>
            </a:r>
            <a:endParaRPr lang="en-US" sz="1150" dirty="0"/>
          </a:p>
        </p:txBody>
      </p:sp>
      <p:sp>
        <p:nvSpPr>
          <p:cNvPr id="19" name="Shape 17"/>
          <p:cNvSpPr/>
          <p:nvPr/>
        </p:nvSpPr>
        <p:spPr>
          <a:xfrm>
            <a:off x="6255868" y="3977640"/>
            <a:ext cx="5478628" cy="2331720"/>
          </a:xfrm>
          <a:prstGeom prst="roundRect">
            <a:avLst>
              <a:gd name="adj" fmla="val 2745"/>
            </a:avLst>
          </a:prstGeom>
          <a:solidFill>
            <a:srgbClr val="F1E8DB"/>
          </a:solidFill>
          <a:ln w="12700">
            <a:solidFill>
              <a:srgbClr val="E7D9C4"/>
            </a:solidFill>
            <a:prstDash val="solid"/>
          </a:ln>
        </p:spPr>
      </p:sp>
      <p:sp>
        <p:nvSpPr>
          <p:cNvPr id="20" name="Shape 18"/>
          <p:cNvSpPr/>
          <p:nvPr/>
        </p:nvSpPr>
        <p:spPr>
          <a:xfrm>
            <a:off x="6548476" y="4270248"/>
            <a:ext cx="457200" cy="457200"/>
          </a:xfrm>
          <a:prstGeom prst="ellipse">
            <a:avLst/>
          </a:prstGeom>
          <a:solidFill>
            <a:srgbClr val="C5A15F"/>
          </a:solidFill>
          <a:ln/>
        </p:spPr>
      </p:sp>
      <p:sp>
        <p:nvSpPr>
          <p:cNvPr id="21" name="Text 19"/>
          <p:cNvSpPr/>
          <p:nvPr/>
        </p:nvSpPr>
        <p:spPr>
          <a:xfrm>
            <a:off x="6548476" y="42702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70268" y="4288536"/>
            <a:ext cx="4289908" cy="457200"/>
          </a:xfrm>
          <a:prstGeom prst="rect">
            <a:avLst/>
          </a:prstGeom>
          <a:noFill/>
          <a:ln/>
        </p:spPr>
        <p:txBody>
          <a:bodyPr wrap="square" lIns="0" tIns="0" rIns="0" bIns="0" rtlCol="0" anchor="ctr"/>
          <a:lstStyle/>
          <a:p>
            <a:pPr marL="0" indent="0">
              <a:buNone/>
            </a:pPr>
            <a:r>
              <a:rPr lang="en-US" sz="1500" b="1" dirty="0">
                <a:solidFill>
                  <a:srgbClr val="2E2418"/>
                </a:solidFill>
                <a:latin typeface="Calibri" pitchFamily="34" charset="0"/>
                <a:ea typeface="Calibri" pitchFamily="34" charset="-122"/>
                <a:cs typeface="Calibri" pitchFamily="34" charset="-120"/>
              </a:rPr>
              <a:t>Causal analysis of discounting</a:t>
            </a:r>
            <a:endParaRPr lang="en-US" sz="1500" dirty="0"/>
          </a:p>
        </p:txBody>
      </p:sp>
      <p:sp>
        <p:nvSpPr>
          <p:cNvPr id="23" name="Text 21"/>
          <p:cNvSpPr/>
          <p:nvPr/>
        </p:nvSpPr>
        <p:spPr>
          <a:xfrm>
            <a:off x="6548476" y="4937760"/>
            <a:ext cx="4893412" cy="1234440"/>
          </a:xfrm>
          <a:prstGeom prst="rect">
            <a:avLst/>
          </a:prstGeom>
          <a:noFill/>
          <a:ln/>
        </p:spPr>
        <p:txBody>
          <a:bodyPr wrap="square" lIns="0" tIns="0" rIns="0" bIns="0" rtlCol="0" anchor="ctr"/>
          <a:lstStyle/>
          <a:p>
            <a:pPr marL="0" indent="0">
              <a:lnSpc>
                <a:spcPct val="120000"/>
              </a:lnSpc>
              <a:buNone/>
            </a:pPr>
            <a:r>
              <a:rPr lang="en-US" sz="1150" dirty="0">
                <a:solidFill>
                  <a:srgbClr val="8C7A67"/>
                </a:solidFill>
                <a:latin typeface="Calibri" pitchFamily="34" charset="0"/>
                <a:ea typeface="Calibri" pitchFamily="34" charset="-122"/>
                <a:cs typeface="Calibri" pitchFamily="34" charset="-120"/>
              </a:rPr>
              <a:t>Apply causal inference methods to the discount to profit relationship to move from correlation to a defensible estimate of its true margin impact.</a:t>
            </a:r>
            <a:endParaRPr lang="en-US" sz="1150" dirty="0"/>
          </a:p>
        </p:txBody>
      </p:sp>
      <p:sp>
        <p:nvSpPr>
          <p:cNvPr id="24" name="Text 22"/>
          <p:cNvSpPr/>
          <p:nvPr/>
        </p:nvSpPr>
        <p:spPr>
          <a:xfrm>
            <a:off x="457200" y="6519672"/>
            <a:ext cx="5486400" cy="256032"/>
          </a:xfrm>
          <a:prstGeom prst="rect">
            <a:avLst/>
          </a:prstGeom>
          <a:noFill/>
          <a:ln/>
        </p:spPr>
        <p:txBody>
          <a:bodyPr wrap="square" lIns="0" tIns="0" rIns="0" bIns="0" rtlCol="0" anchor="ctr"/>
          <a:lstStyle/>
          <a:p>
            <a:pPr marL="0" indent="0" algn="l">
              <a:buNone/>
            </a:pPr>
            <a:r>
              <a:rPr lang="en-US" sz="900" dirty="0">
                <a:solidFill>
                  <a:srgbClr val="8C7A67"/>
                </a:solidFill>
                <a:latin typeface="Calibri" pitchFamily="34" charset="0"/>
                <a:ea typeface="Calibri" pitchFamily="34" charset="-122"/>
                <a:cs typeface="Calibri" pitchFamily="34" charset="-120"/>
              </a:rPr>
              <a:t>ApexPlanet Data Analytics Internship  |  Khushi Vig</a:t>
            </a:r>
            <a:endParaRPr lang="en-US" sz="900" dirty="0"/>
          </a:p>
        </p:txBody>
      </p:sp>
      <p:sp>
        <p:nvSpPr>
          <p:cNvPr id="25" name="Text 23"/>
          <p:cNvSpPr/>
          <p:nvPr/>
        </p:nvSpPr>
        <p:spPr>
          <a:xfrm>
            <a:off x="11185855" y="6519672"/>
            <a:ext cx="548640" cy="256032"/>
          </a:xfrm>
          <a:prstGeom prst="rect">
            <a:avLst/>
          </a:prstGeom>
          <a:noFill/>
          <a:ln/>
        </p:spPr>
        <p:txBody>
          <a:bodyPr wrap="square" lIns="0" tIns="0" rIns="0" bIns="0" rtlCol="0" anchor="ctr"/>
          <a:lstStyle/>
          <a:p>
            <a:pPr marL="0" indent="0" algn="r">
              <a:buNone/>
            </a:pPr>
            <a:r>
              <a:rPr lang="en-US" sz="900" dirty="0">
                <a:solidFill>
                  <a:srgbClr val="8C7A67"/>
                </a:solidFill>
                <a:latin typeface="Calibri" pitchFamily="34" charset="0"/>
                <a:ea typeface="Calibri" pitchFamily="34" charset="-122"/>
                <a:cs typeface="Calibri" pitchFamily="34" charset="-120"/>
              </a:rPr>
              <a:t>15</a:t>
            </a:r>
            <a:endParaRPr lang="en-US" sz="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2E2418"/>
        </a:solidFill>
        <a:effectLst/>
      </p:bgPr>
    </p:bg>
    <p:spTree>
      <p:nvGrpSpPr>
        <p:cNvPr id="1" name=""/>
        <p:cNvGrpSpPr/>
        <p:nvPr/>
      </p:nvGrpSpPr>
      <p:grpSpPr>
        <a:xfrm>
          <a:off x="0" y="0"/>
          <a:ext cx="0" cy="0"/>
          <a:chOff x="0" y="0"/>
          <a:chExt cx="0" cy="0"/>
        </a:xfrm>
      </p:grpSpPr>
      <p:sp>
        <p:nvSpPr>
          <p:cNvPr id="2" name="Shape 0"/>
          <p:cNvSpPr/>
          <p:nvPr/>
        </p:nvSpPr>
        <p:spPr>
          <a:xfrm>
            <a:off x="-2377440" y="-2560320"/>
            <a:ext cx="6766560" cy="6766560"/>
          </a:xfrm>
          <a:prstGeom prst="ellipse">
            <a:avLst/>
          </a:prstGeom>
          <a:solidFill>
            <a:srgbClr val="1E170F"/>
          </a:solidFill>
          <a:ln/>
        </p:spPr>
      </p:sp>
      <p:sp>
        <p:nvSpPr>
          <p:cNvPr id="3" name="Shape 1"/>
          <p:cNvSpPr/>
          <p:nvPr/>
        </p:nvSpPr>
        <p:spPr>
          <a:xfrm>
            <a:off x="8778240" y="2926080"/>
            <a:ext cx="5120640" cy="5120640"/>
          </a:xfrm>
          <a:prstGeom prst="ellipse">
            <a:avLst/>
          </a:prstGeom>
          <a:solidFill>
            <a:srgbClr val="463A2E"/>
          </a:solidFill>
          <a:ln/>
        </p:spPr>
      </p:sp>
      <p:pic>
        <p:nvPicPr>
          <p:cNvPr id="4" name="Image 0" descr="/home/claude/assets/existing_media/image-1-1.png"/>
          <p:cNvPicPr>
            <a:picLocks noChangeAspect="1"/>
          </p:cNvPicPr>
          <p:nvPr/>
        </p:nvPicPr>
        <p:blipFill>
          <a:blip r:embed="rId3"/>
          <a:stretch>
            <a:fillRect/>
          </a:stretch>
        </p:blipFill>
        <p:spPr>
          <a:xfrm>
            <a:off x="621792" y="502920"/>
            <a:ext cx="1655064" cy="566928"/>
          </a:xfrm>
          <a:prstGeom prst="rect">
            <a:avLst/>
          </a:prstGeom>
        </p:spPr>
      </p:pic>
      <p:sp>
        <p:nvSpPr>
          <p:cNvPr id="5" name="Shape 2"/>
          <p:cNvSpPr/>
          <p:nvPr/>
        </p:nvSpPr>
        <p:spPr>
          <a:xfrm>
            <a:off x="10561320" y="1371600"/>
            <a:ext cx="182880" cy="502920"/>
          </a:xfrm>
          <a:prstGeom prst="rect">
            <a:avLst/>
          </a:prstGeom>
          <a:solidFill>
            <a:srgbClr val="C5A15F"/>
          </a:solidFill>
          <a:ln/>
        </p:spPr>
      </p:sp>
      <p:sp>
        <p:nvSpPr>
          <p:cNvPr id="6" name="Shape 3"/>
          <p:cNvSpPr/>
          <p:nvPr/>
        </p:nvSpPr>
        <p:spPr>
          <a:xfrm>
            <a:off x="10817352" y="1097280"/>
            <a:ext cx="182880" cy="777240"/>
          </a:xfrm>
          <a:prstGeom prst="rect">
            <a:avLst/>
          </a:prstGeom>
          <a:solidFill>
            <a:srgbClr val="C5A15F"/>
          </a:solidFill>
          <a:ln/>
        </p:spPr>
      </p:sp>
      <p:sp>
        <p:nvSpPr>
          <p:cNvPr id="7" name="Shape 4"/>
          <p:cNvSpPr/>
          <p:nvPr/>
        </p:nvSpPr>
        <p:spPr>
          <a:xfrm>
            <a:off x="11073384" y="1554480"/>
            <a:ext cx="182880" cy="320040"/>
          </a:xfrm>
          <a:prstGeom prst="rect">
            <a:avLst/>
          </a:prstGeom>
          <a:solidFill>
            <a:srgbClr val="C5A15F"/>
          </a:solidFill>
          <a:ln/>
        </p:spPr>
      </p:sp>
      <p:sp>
        <p:nvSpPr>
          <p:cNvPr id="8" name="Shape 5"/>
          <p:cNvSpPr/>
          <p:nvPr/>
        </p:nvSpPr>
        <p:spPr>
          <a:xfrm>
            <a:off x="11329416" y="914400"/>
            <a:ext cx="182880" cy="960120"/>
          </a:xfrm>
          <a:prstGeom prst="rect">
            <a:avLst/>
          </a:prstGeom>
          <a:solidFill>
            <a:srgbClr val="C5A15F"/>
          </a:solidFill>
          <a:ln/>
        </p:spPr>
      </p:sp>
      <p:sp>
        <p:nvSpPr>
          <p:cNvPr id="9" name="Shape 6"/>
          <p:cNvSpPr/>
          <p:nvPr/>
        </p:nvSpPr>
        <p:spPr>
          <a:xfrm>
            <a:off x="11585448" y="1234440"/>
            <a:ext cx="182880" cy="640080"/>
          </a:xfrm>
          <a:prstGeom prst="rect">
            <a:avLst/>
          </a:prstGeom>
          <a:solidFill>
            <a:srgbClr val="C5A15F"/>
          </a:solidFill>
          <a:ln/>
        </p:spPr>
      </p:sp>
      <p:sp>
        <p:nvSpPr>
          <p:cNvPr id="10" name="Text 7"/>
          <p:cNvSpPr/>
          <p:nvPr/>
        </p:nvSpPr>
        <p:spPr>
          <a:xfrm>
            <a:off x="457200" y="2606040"/>
            <a:ext cx="731520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11" name="Text 8"/>
          <p:cNvSpPr/>
          <p:nvPr/>
        </p:nvSpPr>
        <p:spPr>
          <a:xfrm>
            <a:off x="457200" y="3401568"/>
            <a:ext cx="8686800" cy="365760"/>
          </a:xfrm>
          <a:prstGeom prst="rect">
            <a:avLst/>
          </a:prstGeom>
          <a:noFill/>
          <a:ln/>
        </p:spPr>
        <p:txBody>
          <a:bodyPr wrap="square" lIns="0" tIns="0" rIns="0" bIns="0" rtlCol="0" anchor="ctr"/>
          <a:lstStyle/>
          <a:p>
            <a:pPr marL="0" indent="0">
              <a:buNone/>
            </a:pPr>
            <a:r>
              <a:rPr lang="en-US" sz="1500" dirty="0">
                <a:solidFill>
                  <a:srgbClr val="F1E8DB"/>
                </a:solidFill>
                <a:latin typeface="Calibri" pitchFamily="34" charset="0"/>
                <a:ea typeface="Calibri" pitchFamily="34" charset="-122"/>
                <a:cs typeface="Calibri" pitchFamily="34" charset="-120"/>
              </a:rPr>
              <a:t>45-day Data Analytics Internship completed at ApexPlanet Software Pvt. Ltd.</a:t>
            </a:r>
            <a:endParaRPr lang="en-US" sz="1500" dirty="0"/>
          </a:p>
        </p:txBody>
      </p:sp>
      <p:sp>
        <p:nvSpPr>
          <p:cNvPr id="12" name="Text 9"/>
          <p:cNvSpPr/>
          <p:nvPr/>
        </p:nvSpPr>
        <p:spPr>
          <a:xfrm>
            <a:off x="457200" y="3840480"/>
            <a:ext cx="9601200" cy="274320"/>
          </a:xfrm>
          <a:prstGeom prst="rect">
            <a:avLst/>
          </a:prstGeom>
          <a:noFill/>
          <a:ln/>
        </p:spPr>
        <p:txBody>
          <a:bodyPr wrap="square" lIns="0" tIns="0" rIns="0" bIns="0" rtlCol="0" anchor="ctr"/>
          <a:lstStyle/>
          <a:p>
            <a:pPr marL="0" indent="0">
              <a:buNone/>
            </a:pPr>
            <a:r>
              <a:rPr lang="en-US" sz="1050" b="1" kern="0" spc="50" dirty="0">
                <a:solidFill>
                  <a:srgbClr val="C5A15F"/>
                </a:solidFill>
                <a:latin typeface="Calibri" pitchFamily="34" charset="0"/>
                <a:ea typeface="Calibri" pitchFamily="34" charset="-122"/>
                <a:cs typeface="Calibri" pitchFamily="34" charset="-120"/>
              </a:rPr>
              <a:t>SARIMA FORECASTING   ·   RFM CUSTOMER SEGMENTATION   ·   POWER BI DASHBOARD   ·   HYPOTHESIS TESTING</a:t>
            </a:r>
            <a:endParaRPr lang="en-US" sz="1050" dirty="0"/>
          </a:p>
        </p:txBody>
      </p:sp>
      <p:sp>
        <p:nvSpPr>
          <p:cNvPr id="13" name="Text 10"/>
          <p:cNvSpPr/>
          <p:nvPr/>
        </p:nvSpPr>
        <p:spPr>
          <a:xfrm>
            <a:off x="457200" y="4617720"/>
            <a:ext cx="3931920" cy="219456"/>
          </a:xfrm>
          <a:prstGeom prst="rect">
            <a:avLst/>
          </a:prstGeom>
          <a:noFill/>
          <a:ln/>
        </p:spPr>
        <p:txBody>
          <a:bodyPr wrap="square" lIns="0" tIns="0" rIns="0" bIns="0" rtlCol="0" anchor="ctr"/>
          <a:lstStyle/>
          <a:p>
            <a:pPr marL="0" indent="0">
              <a:buNone/>
            </a:pPr>
            <a:r>
              <a:rPr lang="en-US" sz="1000" b="1" kern="0" spc="100" dirty="0">
                <a:solidFill>
                  <a:srgbClr val="C5A15F"/>
                </a:solidFill>
                <a:latin typeface="Calibri" pitchFamily="34" charset="0"/>
                <a:ea typeface="Calibri" pitchFamily="34" charset="-122"/>
                <a:cs typeface="Calibri" pitchFamily="34" charset="-120"/>
              </a:rPr>
              <a:t>PREPARED BY</a:t>
            </a:r>
            <a:endParaRPr lang="en-US" sz="1000" dirty="0"/>
          </a:p>
        </p:txBody>
      </p:sp>
      <p:sp>
        <p:nvSpPr>
          <p:cNvPr id="14" name="Text 11"/>
          <p:cNvSpPr/>
          <p:nvPr/>
        </p:nvSpPr>
        <p:spPr>
          <a:xfrm>
            <a:off x="457200" y="4864608"/>
            <a:ext cx="393192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Khushi Vig</a:t>
            </a:r>
            <a:endParaRPr lang="en-US" sz="1250" dirty="0"/>
          </a:p>
        </p:txBody>
      </p:sp>
      <p:sp>
        <p:nvSpPr>
          <p:cNvPr id="15" name="Text 12"/>
          <p:cNvSpPr/>
          <p:nvPr/>
        </p:nvSpPr>
        <p:spPr>
          <a:xfrm>
            <a:off x="2606040" y="4617720"/>
            <a:ext cx="3931920" cy="219456"/>
          </a:xfrm>
          <a:prstGeom prst="rect">
            <a:avLst/>
          </a:prstGeom>
          <a:noFill/>
          <a:ln/>
        </p:spPr>
        <p:txBody>
          <a:bodyPr wrap="square" lIns="0" tIns="0" rIns="0" bIns="0" rtlCol="0" anchor="ctr"/>
          <a:lstStyle/>
          <a:p>
            <a:pPr marL="0" indent="0">
              <a:buNone/>
            </a:pPr>
            <a:r>
              <a:rPr lang="en-US" sz="1000" b="1" kern="0" spc="100" dirty="0">
                <a:solidFill>
                  <a:srgbClr val="C5A15F"/>
                </a:solidFill>
                <a:latin typeface="Calibri" pitchFamily="34" charset="0"/>
                <a:ea typeface="Calibri" pitchFamily="34" charset="-122"/>
                <a:cs typeface="Calibri" pitchFamily="34" charset="-120"/>
              </a:rPr>
              <a:t>GITHUB REPOSITORY</a:t>
            </a:r>
            <a:endParaRPr lang="en-US" sz="1000" dirty="0"/>
          </a:p>
        </p:txBody>
      </p:sp>
      <p:sp>
        <p:nvSpPr>
          <p:cNvPr id="16" name="Text 13"/>
          <p:cNvSpPr/>
          <p:nvPr/>
        </p:nvSpPr>
        <p:spPr>
          <a:xfrm>
            <a:off x="2606040" y="4864608"/>
            <a:ext cx="484632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github.com/KhushiVig/apexplanet-data-analytics</a:t>
            </a:r>
            <a:endParaRPr lang="en-US" sz="1250" dirty="0"/>
          </a:p>
        </p:txBody>
      </p:sp>
      <p:sp>
        <p:nvSpPr>
          <p:cNvPr id="17" name="Text 14"/>
          <p:cNvSpPr/>
          <p:nvPr/>
        </p:nvSpPr>
        <p:spPr>
          <a:xfrm>
            <a:off x="7589520" y="4617720"/>
            <a:ext cx="3931920" cy="219456"/>
          </a:xfrm>
          <a:prstGeom prst="rect">
            <a:avLst/>
          </a:prstGeom>
          <a:noFill/>
          <a:ln/>
        </p:spPr>
        <p:txBody>
          <a:bodyPr wrap="square" lIns="0" tIns="0" rIns="0" bIns="0" rtlCol="0" anchor="ctr"/>
          <a:lstStyle/>
          <a:p>
            <a:pPr marL="0" indent="0">
              <a:buNone/>
            </a:pPr>
            <a:r>
              <a:rPr lang="en-US" sz="1000" b="1" kern="0" spc="100" dirty="0">
                <a:solidFill>
                  <a:srgbClr val="C5A15F"/>
                </a:solidFill>
                <a:latin typeface="Calibri" pitchFamily="34" charset="0"/>
                <a:ea typeface="Calibri" pitchFamily="34" charset="-122"/>
                <a:cs typeface="Calibri" pitchFamily="34" charset="-120"/>
              </a:rPr>
              <a:t>LINKEDIN</a:t>
            </a:r>
            <a:endParaRPr lang="en-US" sz="1000" dirty="0"/>
          </a:p>
        </p:txBody>
      </p:sp>
      <p:sp>
        <p:nvSpPr>
          <p:cNvPr id="18" name="Text 15"/>
          <p:cNvSpPr/>
          <p:nvPr/>
        </p:nvSpPr>
        <p:spPr>
          <a:xfrm>
            <a:off x="7589520" y="4864608"/>
            <a:ext cx="393192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linkedin.com/in/khushi-vig</a:t>
            </a:r>
            <a:endParaRPr lang="en-US" sz="1250" dirty="0"/>
          </a:p>
        </p:txBody>
      </p:sp>
      <p:sp>
        <p:nvSpPr>
          <p:cNvPr id="19" name="Text 16"/>
          <p:cNvSpPr/>
          <p:nvPr/>
        </p:nvSpPr>
        <p:spPr>
          <a:xfrm>
            <a:off x="457200" y="5440680"/>
            <a:ext cx="9144000" cy="502920"/>
          </a:xfrm>
          <a:prstGeom prst="rect">
            <a:avLst/>
          </a:prstGeom>
          <a:noFill/>
          <a:ln/>
        </p:spPr>
        <p:txBody>
          <a:bodyPr wrap="square" lIns="0" tIns="0" rIns="0" bIns="0" rtlCol="0" anchor="ctr"/>
          <a:lstStyle/>
          <a:p>
            <a:pPr marL="0" indent="0">
              <a:lnSpc>
                <a:spcPct val="115000"/>
              </a:lnSpc>
              <a:buNone/>
            </a:pPr>
            <a:r>
              <a:rPr lang="en-US" sz="1200" i="1" dirty="0">
                <a:solidFill>
                  <a:srgbClr val="BBA07B"/>
                </a:solidFill>
                <a:latin typeface="Calibri" pitchFamily="34" charset="0"/>
                <a:ea typeface="Calibri" pitchFamily="34" charset="-122"/>
                <a:cs typeface="Calibri" pitchFamily="34" charset="-120"/>
              </a:rPr>
              <a:t>Submitted as the Task 5 deliverable for the ApexPlanet Data Analytics Internship Programme 2026.</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2499</Words>
  <Application>Microsoft Office PowerPoint</Application>
  <PresentationFormat>Widescreen</PresentationFormat>
  <Paragraphs>290</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kritika</cp:lastModifiedBy>
  <cp:revision>3</cp:revision>
  <dcterms:created xsi:type="dcterms:W3CDTF">2026-07-12T08:19:13Z</dcterms:created>
  <dcterms:modified xsi:type="dcterms:W3CDTF">2026-07-12T19:50:07Z</dcterms:modified>
</cp:coreProperties>
</file>